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6000" cy="42804000"/>
  <p:notesSz cx="42804000" cy="302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nter-band"/>
          <p:cNvSpPr/>
          <p:nvPr/>
        </p:nvSpPr>
        <p:spPr>
          <a:xfrm>
            <a:off x="0" y="5288615"/>
            <a:ext cx="30275967" cy="14401800"/>
          </a:xfrm>
          <a:prstGeom prst="rect">
            <a:avLst/>
          </a:prstGeom>
          <a:solidFill>
            <a:srgbClr val="E6ECF4"/>
          </a:solidFill>
          <a:ln/>
        </p:spPr>
      </p:sp>
      <p:sp>
        <p:nvSpPr>
          <p:cNvPr id="3" name="title-block"/>
          <p:cNvSpPr txBox="1"/>
          <p:nvPr/>
        </p:nvSpPr>
        <p:spPr>
          <a:xfrm>
            <a:off x="914309" y="914309"/>
            <a:ext cx="21942674" cy="376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b="1" spc="294" kern="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ARXIV 2607.02668</a:t>
            </a:r>
            <a:endParaRPr lang="en-US" sz="2100" dirty="0"/>
          </a:p>
          <a:p>
            <a:pPr algn="l" indent="0" marL="0">
              <a:lnSpc>
                <a:spcPts val="7343"/>
              </a:lnSpc>
              <a:spcBef>
                <a:spcPts val="1650"/>
              </a:spcBef>
              <a:buNone/>
            </a:pPr>
            <a:r>
              <a:rPr lang="en-US" sz="7199" b="1" spc="-108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Improving LLMs via Validator-to-Generator Alignment</a:t>
            </a:r>
            <a:endParaRPr lang="en-US" sz="2100" dirty="0"/>
          </a:p>
          <a:p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Juan Diego Rodriguez</a:t>
            </a:r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baseline="30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Jocelyn Zhang</a:t>
            </a:r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baseline="30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Katrin Erk</a:t>
            </a:r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baseline="30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Greg Durrett</a:t>
            </a:r>
            <a:pPr algn="l" indent="0" marL="0">
              <a:lnSpc>
                <a:spcPts val="4049"/>
              </a:lnSpc>
              <a:spcBef>
                <a:spcPts val="1650"/>
              </a:spcBef>
              <a:buNone/>
            </a:pPr>
            <a:r>
              <a:rPr lang="en-US" sz="3000" baseline="3000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2100" dirty="0"/>
          </a:p>
          <a:p>
            <a:pPr algn="l" indent="0" marL="0">
              <a:lnSpc>
                <a:spcPts val="2982"/>
              </a:lnSpc>
              <a:spcBef>
                <a:spcPts val="1650"/>
              </a:spcBef>
              <a:buNone/>
            </a:pPr>
            <a:r>
              <a:rPr lang="en-US" sz="2100" baseline="3000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pPr algn="l" indent="0" marL="0">
              <a:lnSpc>
                <a:spcPts val="2982"/>
              </a:lnSpc>
              <a:spcBef>
                <a:spcPts val="1650"/>
              </a:spcBef>
              <a:buNone/>
            </a:pPr>
            <a:r>
              <a:rPr lang="en-US" sz="210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UT Austin </a:t>
            </a:r>
            <a:pPr algn="l" indent="0" marL="0">
              <a:lnSpc>
                <a:spcPts val="2982"/>
              </a:lnSpc>
              <a:spcBef>
                <a:spcPts val="1650"/>
              </a:spcBef>
              <a:buNone/>
            </a:pPr>
            <a:r>
              <a:rPr lang="en-US" sz="2100" baseline="3000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pPr algn="l" indent="0" marL="0">
              <a:lnSpc>
                <a:spcPts val="2982"/>
              </a:lnSpc>
              <a:spcBef>
                <a:spcPts val="1650"/>
              </a:spcBef>
              <a:buNone/>
            </a:pPr>
            <a:r>
              <a:rPr lang="en-US" sz="210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UMass Amherst </a:t>
            </a:r>
            <a:pPr algn="l" indent="0" marL="0">
              <a:lnSpc>
                <a:spcPts val="2982"/>
              </a:lnSpc>
              <a:spcBef>
                <a:spcPts val="1650"/>
              </a:spcBef>
              <a:buNone/>
            </a:pPr>
            <a:r>
              <a:rPr lang="en-US" sz="2100" baseline="3000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pPr algn="l" indent="0" marL="0">
              <a:lnSpc>
                <a:spcPts val="2982"/>
              </a:lnSpc>
              <a:spcBef>
                <a:spcPts val="1650"/>
              </a:spcBef>
              <a:buNone/>
            </a:pPr>
            <a:r>
              <a:rPr lang="en-US" sz="210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 York University</a:t>
            </a:r>
            <a:endParaRPr lang="en-US" sz="2100" dirty="0"/>
          </a:p>
        </p:txBody>
      </p:sp>
      <p:pic>
        <p:nvPicPr>
          <p:cNvPr id="4" name="qr-paper-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18861" y="1542136"/>
            <a:ext cx="2266615" cy="2266615"/>
          </a:xfrm>
          <a:prstGeom prst="rect">
            <a:avLst/>
          </a:prstGeom>
        </p:spPr>
      </p:pic>
      <p:sp>
        <p:nvSpPr>
          <p:cNvPr id="5" name="qr-paper-label"/>
          <p:cNvSpPr txBox="1"/>
          <p:nvPr/>
        </p:nvSpPr>
        <p:spPr>
          <a:xfrm>
            <a:off x="23618861" y="3923050"/>
            <a:ext cx="2825587" cy="75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5"/>
              </a:lnSpc>
              <a:buNone/>
            </a:pPr>
            <a:r>
              <a:rPr lang="en-US" sz="255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Paper</a:t>
            </a:r>
            <a:endParaRPr lang="en-US" sz="2550" dirty="0"/>
          </a:p>
          <a:p>
            <a:pPr algn="l" indent="0" marL="0">
              <a:lnSpc>
                <a:spcPts val="2250"/>
              </a:lnSpc>
              <a:spcBef>
                <a:spcPts val="900"/>
              </a:spcBef>
              <a:buNone/>
            </a:pPr>
            <a:r>
              <a:rPr lang="en-US" sz="1875" dirty="0">
                <a:solidFill>
                  <a:srgbClr val="2B30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arxiv.org/abs/2607.02668</a:t>
            </a:r>
            <a:endParaRPr lang="en-US" sz="2550" dirty="0"/>
          </a:p>
        </p:txBody>
      </p:sp>
      <p:pic>
        <p:nvPicPr>
          <p:cNvPr id="6" name="qr-code-im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5387" y="1542136"/>
            <a:ext cx="2266615" cy="2266615"/>
          </a:xfrm>
          <a:prstGeom prst="rect">
            <a:avLst/>
          </a:prstGeom>
        </p:spPr>
      </p:pic>
      <p:sp>
        <p:nvSpPr>
          <p:cNvPr id="7" name="qr-code-label"/>
          <p:cNvSpPr txBox="1"/>
          <p:nvPr/>
        </p:nvSpPr>
        <p:spPr>
          <a:xfrm>
            <a:off x="26825387" y="3923050"/>
            <a:ext cx="2688702" cy="75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5"/>
              </a:lnSpc>
              <a:buNone/>
            </a:pPr>
            <a:r>
              <a:rPr lang="en-US" sz="255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 and data</a:t>
            </a:r>
            <a:endParaRPr lang="en-US" sz="2550" dirty="0"/>
          </a:p>
          <a:p>
            <a:pPr algn="l" indent="0" marL="0">
              <a:lnSpc>
                <a:spcPts val="2250"/>
              </a:lnSpc>
              <a:spcBef>
                <a:spcPts val="900"/>
              </a:spcBef>
              <a:buNone/>
            </a:pPr>
            <a:r>
              <a:rPr lang="en-US" sz="1875" dirty="0">
                <a:solidFill>
                  <a:srgbClr val="2B30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github.com/juand-r/flora</a:t>
            </a:r>
            <a:endParaRPr lang="en-US" sz="2550" dirty="0"/>
          </a:p>
        </p:txBody>
      </p:sp>
      <p:sp>
        <p:nvSpPr>
          <p:cNvPr id="8" name="main-idea"/>
          <p:cNvSpPr txBox="1"/>
          <p:nvPr/>
        </p:nvSpPr>
        <p:spPr>
          <a:xfrm>
            <a:off x="914309" y="6202924"/>
            <a:ext cx="28599780" cy="506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85"/>
              </a:lnSpc>
              <a:buNone/>
            </a:pPr>
            <a:r>
              <a:rPr lang="en-US" sz="12898" b="1" spc="-258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Correct for </a:t>
            </a:r>
            <a:pPr algn="l" indent="0" marL="0">
              <a:lnSpc>
                <a:spcPts val="13285"/>
              </a:lnSpc>
              <a:buNone/>
            </a:pPr>
            <a:r>
              <a:rPr lang="en-US" sz="12898" b="1" spc="-258" kern="0" dirty="0">
                <a:solidFill>
                  <a:srgbClr val="C254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often an answer is said</a:t>
            </a:r>
            <a:pPr algn="l" indent="0" marL="0">
              <a:lnSpc>
                <a:spcPts val="13285"/>
              </a:lnSpc>
              <a:buNone/>
            </a:pPr>
            <a:r>
              <a:rPr lang="en-US" sz="12898" b="1" spc="-258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and an LLM’s generator lines up with its own validator.</a:t>
            </a:r>
            <a:endParaRPr lang="en-US" sz="12898" dirty="0"/>
          </a:p>
        </p:txBody>
      </p:sp>
      <p:pic>
        <p:nvPicPr>
          <p:cNvPr id="9" name="figure-scatt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09" y="11874033"/>
            <a:ext cx="16952244" cy="6902166"/>
          </a:xfrm>
          <a:prstGeom prst="rect">
            <a:avLst/>
          </a:prstGeom>
        </p:spPr>
      </p:pic>
      <p:sp>
        <p:nvSpPr>
          <p:cNvPr id="10" name="main-subtext"/>
          <p:cNvSpPr txBox="1"/>
          <p:nvPr/>
        </p:nvSpPr>
        <p:spPr>
          <a:xfrm>
            <a:off x="18552262" y="11874033"/>
            <a:ext cx="10961827" cy="284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4"/>
              </a:lnSpc>
              <a:buNone/>
            </a:pPr>
            <a:r>
              <a:rPr lang="en-US" sz="34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 derive the correction from a model of a rational agent, then train on it. FLORA raises generator–validator correlation by up to 0.27 and generator AUROC by up to 7.3 points over the strongest alternative, without hurting validator AUROC.</a:t>
            </a:r>
            <a:endParaRPr lang="en-US" sz="3450" dirty="0"/>
          </a:p>
        </p:txBody>
      </p:sp>
      <p:sp>
        <p:nvSpPr>
          <p:cNvPr id="11" name="figure-notes"/>
          <p:cNvSpPr txBox="1"/>
          <p:nvPr/>
        </p:nvSpPr>
        <p:spPr>
          <a:xfrm>
            <a:off x="18552262" y="15102413"/>
            <a:ext cx="10961827" cy="232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7"/>
              </a:lnSpc>
              <a:buNone/>
            </a:pPr>
            <a:r>
              <a:rPr lang="en-US" sz="2250" dirty="0">
                <a:solidFill>
                  <a:srgbClr val="2B30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IFEval prompt, Gemma-2-9b-it. Each point is a candidate answer (green: correct, red: incorrect). The vertical axis is the model’s own validator.</a:t>
            </a:r>
            <a:endParaRPr lang="en-US" sz="2250" dirty="0"/>
          </a:p>
          <a:p>
            <a:pPr algn="l" indent="0" marL="0">
              <a:lnSpc>
                <a:spcPts val="3037"/>
              </a:lnSpc>
              <a:spcBef>
                <a:spcPts val="1050"/>
              </a:spcBef>
              <a:buNone/>
            </a:pPr>
            <a:r>
              <a:rPr lang="en-US" sz="225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Left, raw score.</a:t>
            </a:r>
            <a:pPr algn="l" indent="0" marL="0">
              <a:lnSpc>
                <a:spcPts val="3037"/>
              </a:lnSpc>
              <a:spcBef>
                <a:spcPts val="1050"/>
              </a:spcBef>
              <a:buNone/>
            </a:pPr>
            <a:r>
              <a:rPr lang="en-US" sz="22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No relation to the validator (ρ = −0.24).</a:t>
            </a:r>
            <a:endParaRPr lang="en-US" sz="2250" dirty="0"/>
          </a:p>
          <a:p>
            <a:pPr algn="l" indent="0" marL="0">
              <a:lnSpc>
                <a:spcPts val="3037"/>
              </a:lnSpc>
              <a:spcBef>
                <a:spcPts val="1050"/>
              </a:spcBef>
              <a:buNone/>
            </a:pPr>
            <a:r>
              <a:rPr lang="en-US" sz="225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Middle, corrected, no training.</a:t>
            </a:r>
            <a:pPr algn="l" indent="0" marL="0">
              <a:lnSpc>
                <a:spcPts val="3037"/>
              </a:lnSpc>
              <a:spcBef>
                <a:spcPts val="1050"/>
              </a:spcBef>
              <a:buNone/>
            </a:pPr>
            <a:r>
              <a:rPr lang="en-US" sz="22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Most of the agreement appears (ρ = 0.64).</a:t>
            </a:r>
            <a:endParaRPr lang="en-US" sz="2250" dirty="0"/>
          </a:p>
          <a:p>
            <a:pPr algn="l" indent="0" marL="0">
              <a:lnSpc>
                <a:spcPts val="3037"/>
              </a:lnSpc>
              <a:spcBef>
                <a:spcPts val="1050"/>
              </a:spcBef>
              <a:buNone/>
            </a:pPr>
            <a:r>
              <a:rPr lang="en-US" sz="225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Right, after FLORA.</a:t>
            </a:r>
            <a:pPr algn="l" indent="0" marL="0">
              <a:lnSpc>
                <a:spcPts val="3037"/>
              </a:lnSpc>
              <a:spcBef>
                <a:spcPts val="1050"/>
              </a:spcBef>
              <a:buNone/>
            </a:pPr>
            <a:r>
              <a:rPr lang="en-US" sz="22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Tighter still (ρ = 0.75).</a:t>
            </a:r>
            <a:endParaRPr lang="en-US" sz="2250" dirty="0"/>
          </a:p>
        </p:txBody>
      </p:sp>
      <p:sp>
        <p:nvSpPr>
          <p:cNvPr id="12" name="s1-heading"/>
          <p:cNvSpPr txBox="1"/>
          <p:nvPr/>
        </p:nvSpPr>
        <p:spPr>
          <a:xfrm>
            <a:off x="914309" y="20300046"/>
            <a:ext cx="9247602" cy="1199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D260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 </a:t>
            </a:r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Generators and validators disagree</a:t>
            </a:r>
            <a:endParaRPr lang="en-US" sz="4499" dirty="0"/>
          </a:p>
        </p:txBody>
      </p:sp>
      <p:sp>
        <p:nvSpPr>
          <p:cNvPr id="13" name="s1-text"/>
          <p:cNvSpPr txBox="1"/>
          <p:nvPr/>
        </p:nvSpPr>
        <p:spPr>
          <a:xfrm>
            <a:off x="914309" y="21709502"/>
            <a:ext cx="9247602" cy="183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1"/>
              </a:lnSpc>
              <a:buNone/>
            </a:pPr>
            <a:r>
              <a:rPr lang="en-US" sz="25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Ask an LLM for an example of a noble gas and it rarely says “Rn”. Ask it whether Rn is a noble gas and it says yes. The generator mixes up two things: whether an answer is correct, and how often people say it.</a:t>
            </a:r>
            <a:endParaRPr lang="en-US" sz="2550" dirty="0"/>
          </a:p>
        </p:txBody>
      </p:sp>
      <p:pic>
        <p:nvPicPr>
          <p:cNvPr id="14" name="s1-noble-gas-diagram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09" y="23833927"/>
            <a:ext cx="9095171" cy="7545629"/>
          </a:xfrm>
          <a:prstGeom prst="rect">
            <a:avLst/>
          </a:prstGeom>
        </p:spPr>
      </p:pic>
      <p:sp>
        <p:nvSpPr>
          <p:cNvPr id="15" name="s2-heading"/>
          <p:cNvSpPr txBox="1"/>
          <p:nvPr/>
        </p:nvSpPr>
        <p:spPr>
          <a:xfrm>
            <a:off x="914309" y="31874795"/>
            <a:ext cx="9247602" cy="60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D260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</a:t>
            </a:r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should agree with what</a:t>
            </a:r>
            <a:endParaRPr lang="en-US" sz="4499" dirty="0"/>
          </a:p>
        </p:txBody>
      </p:sp>
      <p:sp>
        <p:nvSpPr>
          <p:cNvPr id="16" name="s2-text"/>
          <p:cNvSpPr txBox="1"/>
          <p:nvPr/>
        </p:nvSpPr>
        <p:spPr>
          <a:xfrm>
            <a:off x="914309" y="32684314"/>
            <a:ext cx="9247602" cy="139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1"/>
              </a:lnSpc>
              <a:buNone/>
            </a:pPr>
            <a:r>
              <a:rPr lang="en-US" sz="25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Model the LLM as an agent that is unsure which answers are correct. Then, for an answer </a:t>
            </a:r>
            <a:pPr algn="l" indent="0" marL="0">
              <a:lnSpc>
                <a:spcPts val="3621"/>
              </a:lnSpc>
              <a:buNone/>
            </a:pPr>
            <a:r>
              <a:rPr lang="en-US" sz="2550" i="1" dirty="0">
                <a:solidFill>
                  <a:srgbClr val="14161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y</a:t>
            </a:r>
            <a:pPr algn="l" indent="0" marL="0">
              <a:lnSpc>
                <a:spcPts val="3621"/>
              </a:lnSpc>
              <a:buNone/>
            </a:pPr>
            <a:r>
              <a:rPr lang="en-US" sz="25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to a prompt </a:t>
            </a:r>
            <a:pPr algn="l" indent="0" marL="0">
              <a:lnSpc>
                <a:spcPts val="3621"/>
              </a:lnSpc>
              <a:buNone/>
            </a:pPr>
            <a:r>
              <a:rPr lang="en-US" sz="2550" i="1" dirty="0">
                <a:solidFill>
                  <a:srgbClr val="14161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x</a:t>
            </a:r>
            <a:pPr algn="l" indent="0" marL="0">
              <a:lnSpc>
                <a:spcPts val="3621"/>
              </a:lnSpc>
              <a:buNone/>
            </a:pPr>
            <a:r>
              <a:rPr lang="en-US" sz="25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the validator’s log-odds equal a frequency-corrected generator score:</a:t>
            </a:r>
            <a:endParaRPr lang="en-US" sz="2550" dirty="0"/>
          </a:p>
        </p:txBody>
      </p:sp>
      <p:pic>
        <p:nvPicPr>
          <p:cNvPr id="17" name="s2-equ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09" y="34291920"/>
            <a:ext cx="9095171" cy="2567269"/>
          </a:xfrm>
          <a:prstGeom prst="rect">
            <a:avLst/>
          </a:prstGeom>
        </p:spPr>
      </p:pic>
      <p:sp>
        <p:nvSpPr>
          <p:cNvPr id="18" name="s2-note"/>
          <p:cNvSpPr txBox="1"/>
          <p:nvPr/>
        </p:nvSpPr>
        <p:spPr>
          <a:xfrm>
            <a:off x="914309" y="37068679"/>
            <a:ext cx="9247602" cy="71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 the raw generator score need not match the validator. The corrected score should.</a:t>
            </a:r>
            <a:endParaRPr lang="en-US" sz="2025" dirty="0"/>
          </a:p>
        </p:txBody>
      </p:sp>
      <p:sp>
        <p:nvSpPr>
          <p:cNvPr id="19" name="s3-heading"/>
          <p:cNvSpPr txBox="1"/>
          <p:nvPr/>
        </p:nvSpPr>
        <p:spPr>
          <a:xfrm>
            <a:off x="10590398" y="20300046"/>
            <a:ext cx="9247602" cy="60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D260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 </a:t>
            </a:r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FLORA: train for agreement</a:t>
            </a:r>
            <a:endParaRPr lang="en-US" sz="4499" dirty="0"/>
          </a:p>
        </p:txBody>
      </p:sp>
      <p:sp>
        <p:nvSpPr>
          <p:cNvPr id="20" name="s3-text"/>
          <p:cNvSpPr txBox="1"/>
          <p:nvPr/>
        </p:nvSpPr>
        <p:spPr>
          <a:xfrm>
            <a:off x="10590398" y="21109564"/>
            <a:ext cx="9247602" cy="91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1"/>
              </a:lnSpc>
              <a:buNone/>
            </a:pPr>
            <a:r>
              <a:rPr lang="en-US" sz="255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Frequency-corrected Learning of Ordered Rank Alignment turns this relation into a fine-tuning loss.</a:t>
            </a:r>
            <a:endParaRPr lang="en-US" sz="2550" dirty="0"/>
          </a:p>
        </p:txBody>
      </p:sp>
      <p:pic>
        <p:nvPicPr>
          <p:cNvPr id="21" name="s3-flora-diagram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0398" y="22238391"/>
            <a:ext cx="9095171" cy="4571360"/>
          </a:xfrm>
          <a:prstGeom prst="rect">
            <a:avLst/>
          </a:prstGeom>
        </p:spPr>
      </p:pic>
      <p:sp>
        <p:nvSpPr>
          <p:cNvPr id="22" name="s3-note"/>
          <p:cNvSpPr txBox="1"/>
          <p:nvPr/>
        </p:nvSpPr>
        <p:spPr>
          <a:xfrm>
            <a:off x="10590398" y="27019331"/>
            <a:ext cx="9247602" cy="109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FLORA-Neg gets </a:t>
            </a:r>
            <a:pPr algn="l" indent="0" marL="0">
              <a:lnSpc>
                <a:spcPts val="2835"/>
              </a:lnSpc>
              <a:buNone/>
            </a:pPr>
            <a:r>
              <a:rPr lang="en-US" sz="2025" i="1" dirty="0">
                <a:solidFill>
                  <a:srgbClr val="4A4F57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p</a:t>
            </a:r>
            <a:pPr algn="l" indent="0" marL="0">
              <a:lnSpc>
                <a:spcPts val="2835"/>
              </a:lnSpc>
              <a:buNone/>
            </a:pPr>
            <a:r>
              <a:rPr lang="en-US" sz="2025" baseline="-40000" dirty="0">
                <a:solidFill>
                  <a:srgbClr val="4A4F57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G′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from a wrong-answer prompt. FLORA-PMI uses the unconditional 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log </a:t>
            </a:r>
            <a:pPr algn="l" indent="0" marL="0">
              <a:lnSpc>
                <a:spcPts val="2835"/>
              </a:lnSpc>
              <a:buNone/>
            </a:pPr>
            <a:r>
              <a:rPr lang="en-US" sz="2025" i="1" dirty="0">
                <a:solidFill>
                  <a:srgbClr val="4A4F57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p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(</a:t>
            </a:r>
            <a:pPr algn="l" indent="0" marL="0">
              <a:lnSpc>
                <a:spcPts val="2835"/>
              </a:lnSpc>
              <a:buNone/>
            </a:pPr>
            <a:r>
              <a:rPr lang="en-US" sz="2025" i="1" dirty="0">
                <a:solidFill>
                  <a:srgbClr val="4A4F57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y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)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and needs no extra prompt. Likelihood terms on labeled examples keep both modes accurate.</a:t>
            </a:r>
            <a:endParaRPr lang="en-US" sz="2025" dirty="0"/>
          </a:p>
        </p:txBody>
      </p:sp>
      <p:sp>
        <p:nvSpPr>
          <p:cNvPr id="23" name="ablation-title"/>
          <p:cNvSpPr txBox="1"/>
          <p:nvPr/>
        </p:nvSpPr>
        <p:spPr>
          <a:xfrm>
            <a:off x="10590398" y="28613496"/>
            <a:ext cx="9247602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correction matters during training</a:t>
            </a:r>
            <a:endParaRPr lang="en-US" sz="3000" dirty="0"/>
          </a:p>
        </p:txBody>
      </p:sp>
      <p:sp>
        <p:nvSpPr>
          <p:cNvPr id="24" name="ablation-note"/>
          <p:cNvSpPr txBox="1"/>
          <p:nvPr/>
        </p:nvSpPr>
        <p:spPr>
          <a:xfrm>
            <a:off x="10590398" y="29204016"/>
            <a:ext cx="924760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FLORA with and without frequency correction in its training loss. Both use the same correction at test time.</a:t>
            </a:r>
            <a:endParaRPr lang="en-US" sz="1950" dirty="0"/>
          </a:p>
        </p:txBody>
      </p:sp>
      <p:graphicFrame>
        <p:nvGraphicFramePr>
          <p:cNvPr id="2" name="abl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90398" y="30068581"/>
          <a:ext cx="9095171" cy="914400"/>
        </p:xfrm>
        <a:graphic>
          <a:graphicData uri="http://schemas.openxmlformats.org/drawingml/2006/table">
            <a:tbl>
              <a:tblPr/>
              <a:tblGrid>
                <a:gridCol w="4460992"/>
                <a:gridCol w="2450683"/>
                <a:gridCol w="2183496"/>
              </a:tblGrid>
              <a:tr h="59682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Task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14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Gen. AUROC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14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ρ ×100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14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1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IFEval </a:t>
                      </a:r>
                      <a:pPr algn="l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1725" dirty="0">
                          <a:solidFill>
                            <a:srgbClr val="4A4F57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Gemma-2-9b-it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78.5 → </a:t>
                      </a:r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85.1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61.1 → </a:t>
                      </a:r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62.8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02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HumanEval </a:t>
                      </a:r>
                      <a:pPr algn="l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1725" dirty="0">
                          <a:solidFill>
                            <a:srgbClr val="4A4F57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Gemma-4-31b-it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87.9 → </a:t>
                      </a:r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94.2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60.2 → </a:t>
                      </a:r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76.3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02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Hyponymy </a:t>
                      </a:r>
                      <a:pPr algn="l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1725" dirty="0">
                          <a:solidFill>
                            <a:srgbClr val="4A4F57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Gemma-2-9b-it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90.9 → </a:t>
                      </a:r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92.5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73.1 → </a:t>
                      </a:r>
                      <a:pPr algn="r" indent="0" marL="0">
                        <a:lnSpc>
                          <a:spcPts val="3088"/>
                        </a:lnSpc>
                        <a:buNone/>
                      </a:pPr>
                      <a:r>
                        <a:rPr lang="en-US" sz="2175" b="1" dirty="0">
                          <a:solidFill>
                            <a:srgbClr val="14161A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73.8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ablation-footnote"/>
          <p:cNvSpPr txBox="1"/>
          <p:nvPr/>
        </p:nvSpPr>
        <p:spPr>
          <a:xfrm>
            <a:off x="10590398" y="32741738"/>
            <a:ext cx="9247602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Without → with the correction in training.</a:t>
            </a:r>
            <a:endParaRPr lang="en-US" sz="1950" dirty="0"/>
          </a:p>
        </p:txBody>
      </p:sp>
      <p:sp>
        <p:nvSpPr>
          <p:cNvPr id="27" name="validator-title"/>
          <p:cNvSpPr txBox="1"/>
          <p:nvPr/>
        </p:nvSpPr>
        <p:spPr>
          <a:xfrm>
            <a:off x="10590398" y="33583535"/>
            <a:ext cx="9247602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validator does not pay for it</a:t>
            </a:r>
            <a:endParaRPr lang="en-US" sz="3000" dirty="0"/>
          </a:p>
        </p:txBody>
      </p:sp>
      <p:sp>
        <p:nvSpPr>
          <p:cNvPr id="28" name="validator-note"/>
          <p:cNvSpPr txBox="1"/>
          <p:nvPr/>
        </p:nvSpPr>
        <p:spPr>
          <a:xfrm>
            <a:off x="10590398" y="34174054"/>
            <a:ext cx="9247602" cy="693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Change in validator accuracy after FLORA training, in points. Each bar spans the two FLORA variants.</a:t>
            </a:r>
            <a:endParaRPr lang="en-US" sz="1950" dirty="0"/>
          </a:p>
        </p:txBody>
      </p:sp>
      <p:pic>
        <p:nvPicPr>
          <p:cNvPr id="29" name="validator-char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0398" y="35038619"/>
            <a:ext cx="9095171" cy="4057101"/>
          </a:xfrm>
          <a:prstGeom prst="rect">
            <a:avLst/>
          </a:prstGeom>
        </p:spPr>
      </p:pic>
      <p:sp>
        <p:nvSpPr>
          <p:cNvPr id="30" name="validator-takeaway"/>
          <p:cNvSpPr txBox="1"/>
          <p:nvPr/>
        </p:nvSpPr>
        <p:spPr>
          <a:xfrm>
            <a:off x="10590398" y="39267171"/>
            <a:ext cx="9247602" cy="1221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8"/>
              </a:lnSpc>
              <a:buNone/>
            </a:pPr>
            <a:r>
              <a:rPr lang="en-US" sz="232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Validator accuracy rises on IFEval and HumanEval and dips by at most 2.5 points on Hyponymy. Validator AUROC never drops by more than 0.4 points.</a:t>
            </a:r>
            <a:endParaRPr lang="en-US" sz="2325" dirty="0"/>
          </a:p>
        </p:txBody>
      </p:sp>
      <p:sp>
        <p:nvSpPr>
          <p:cNvPr id="31" name="s4-heading"/>
          <p:cNvSpPr txBox="1"/>
          <p:nvPr/>
        </p:nvSpPr>
        <p:spPr>
          <a:xfrm>
            <a:off x="20266579" y="20300046"/>
            <a:ext cx="9247602" cy="60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D260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</a:t>
            </a:r>
            <a:pPr algn="l" indent="0" marL="0">
              <a:lnSpc>
                <a:spcPts val="4724"/>
              </a:lnSpc>
              <a:buNone/>
            </a:pPr>
            <a:r>
              <a:rPr lang="en-US" sz="4499" b="1" spc="-45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Results</a:t>
            </a:r>
            <a:endParaRPr lang="en-US" sz="4499" dirty="0"/>
          </a:p>
        </p:txBody>
      </p:sp>
      <p:sp>
        <p:nvSpPr>
          <p:cNvPr id="32" name="s4-definitions"/>
          <p:cNvSpPr txBox="1"/>
          <p:nvPr/>
        </p:nvSpPr>
        <p:spPr>
          <a:xfrm>
            <a:off x="20266579" y="21071434"/>
            <a:ext cx="9247602" cy="1799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tasks: instruction following (IFEval), Python coding (HumanEval), category membership (Hyponymy). </a:t>
            </a:r>
            <a:pPr algn="l" indent="0" marL="0">
              <a:lnSpc>
                <a:spcPts val="2835"/>
              </a:lnSpc>
              <a:buNone/>
            </a:pPr>
            <a:r>
              <a:rPr lang="en-US" sz="202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Generator AUROC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how well the corrected generator score separates correct from incorrect answers. </a:t>
            </a:r>
            <a:pPr algn="l" indent="0" marL="0">
              <a:lnSpc>
                <a:spcPts val="2835"/>
              </a:lnSpc>
              <a:buNone/>
            </a:pPr>
            <a:r>
              <a:rPr lang="en-US" sz="2025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ρ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Pearson correlation between generator score and validator log-odds. Both per prompt, then averaged.</a:t>
            </a:r>
            <a:endParaRPr lang="en-US" sz="2025" dirty="0"/>
          </a:p>
        </p:txBody>
      </p:sp>
      <p:sp>
        <p:nvSpPr>
          <p:cNvPr id="33" name="results-title"/>
          <p:cNvSpPr txBox="1"/>
          <p:nvPr/>
        </p:nvSpPr>
        <p:spPr>
          <a:xfrm>
            <a:off x="20266579" y="23176017"/>
            <a:ext cx="9247602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Better generators, closer agreement</a:t>
            </a:r>
            <a:endParaRPr lang="en-US" sz="3000" dirty="0"/>
          </a:p>
        </p:txBody>
      </p:sp>
      <p:pic>
        <p:nvPicPr>
          <p:cNvPr id="34" name="results-legend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66579" y="23766536"/>
            <a:ext cx="9095171" cy="365028"/>
          </a:xfrm>
          <a:prstGeom prst="rect">
            <a:avLst/>
          </a:prstGeom>
        </p:spPr>
      </p:pic>
      <p:pic>
        <p:nvPicPr>
          <p:cNvPr id="35" name="results-chart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66579" y="24303015"/>
            <a:ext cx="9095171" cy="9199961"/>
          </a:xfrm>
          <a:prstGeom prst="rect">
            <a:avLst/>
          </a:prstGeom>
        </p:spPr>
      </p:pic>
      <p:sp>
        <p:nvSpPr>
          <p:cNvPr id="36" name="results-takeaway"/>
          <p:cNvSpPr txBox="1"/>
          <p:nvPr/>
        </p:nvSpPr>
        <p:spPr>
          <a:xfrm>
            <a:off x="20266579" y="33674334"/>
            <a:ext cx="9247602" cy="162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8"/>
              </a:lnSpc>
              <a:buNone/>
            </a:pPr>
            <a:r>
              <a:rPr lang="en-US" sz="2325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FLORA is best or tied on generator AUROC in 5 of 6 settings, and best on ρ in 3 of 6 (within 1.4 points elsewhere). Its one clear loss is HumanEval with Qwen, where SFT reaches 94.1 AUROC to FLORA’s 88.9.</a:t>
            </a:r>
            <a:endParaRPr lang="en-US" sz="2325" dirty="0"/>
          </a:p>
        </p:txBody>
      </p:sp>
      <p:sp>
        <p:nvSpPr>
          <p:cNvPr id="37" name="results-footnote"/>
          <p:cNvSpPr txBox="1"/>
          <p:nvPr/>
        </p:nvSpPr>
        <p:spPr>
          <a:xfrm>
            <a:off x="20266579" y="35474971"/>
            <a:ext cx="9247602" cy="99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4A4F5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Each dot is the best variant per setting and metric: FLORA-PMI or FLORA-Neg for FLORA; SFT, Consistency FT or RankAlign for prior methods. “Strongest alternative” above also includes the untrained model.</a:t>
            </a:r>
            <a:endParaRPr lang="en-US" sz="1875" dirty="0"/>
          </a:p>
        </p:txBody>
      </p:sp>
      <p:sp>
        <p:nvSpPr>
          <p:cNvPr id="38" name="limits-title"/>
          <p:cNvSpPr txBox="1"/>
          <p:nvPr/>
        </p:nvSpPr>
        <p:spPr>
          <a:xfrm>
            <a:off x="20266579" y="36970198"/>
            <a:ext cx="9247602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Limits</a:t>
            </a:r>
            <a:endParaRPr lang="en-US" sz="3000" dirty="0"/>
          </a:p>
        </p:txBody>
      </p:sp>
      <p:sp>
        <p:nvSpPr>
          <p:cNvPr id="39" name="limits-text"/>
          <p:cNvSpPr txBox="1"/>
          <p:nvPr/>
        </p:nvSpPr>
        <p:spPr>
          <a:xfrm>
            <a:off x="20266579" y="37522495"/>
            <a:ext cx="9247602" cy="108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2B30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theory needs 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2B3036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log </a:t>
            </a:r>
            <a:pPr algn="l" indent="0" marL="0">
              <a:lnSpc>
                <a:spcPts val="2835"/>
              </a:lnSpc>
              <a:buNone/>
            </a:pPr>
            <a:r>
              <a:rPr lang="en-US" sz="2025" i="1" dirty="0">
                <a:solidFill>
                  <a:srgbClr val="2B3036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r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2B3036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 ≈ 0</a:t>
            </a:r>
            <a:pPr algn="l" indent="0" marL="0">
              <a:lnSpc>
                <a:spcPts val="2835"/>
              </a:lnSpc>
              <a:buNone/>
            </a:pPr>
            <a:r>
              <a:rPr lang="en-US" sz="2025" dirty="0">
                <a:solidFill>
                  <a:srgbClr val="2B303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which cannot be measured. Gains are in ranking fixed candidate sets; sampled and greedy outputs stay roughly unchanged. Correctness is treated as binary.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LLMs via Validator-to-Generator Alignment (poster)</dc:title>
  <dc:subject>PptxGenJS Presentation</dc:subject>
  <dc:creator>PptxGenJS</dc:creator>
  <cp:lastModifiedBy>PptxGenJS</cp:lastModifiedBy>
  <cp:revision>1</cp:revision>
  <dcterms:created xsi:type="dcterms:W3CDTF">2026-10-19T02:10:55Z</dcterms:created>
  <dcterms:modified xsi:type="dcterms:W3CDTF">2026-10-19T02:10:55Z</dcterms:modified>
</cp:coreProperties>
</file>