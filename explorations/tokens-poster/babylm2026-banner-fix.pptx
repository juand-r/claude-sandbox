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30264100" cy="42799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513205" y="574616"/>
            <a:ext cx="27237690" cy="9411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513205" y="9986433"/>
            <a:ext cx="27237690" cy="32812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4627648" y="38529007"/>
            <a:ext cx="7061624" cy="22786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-band"/>
          <p:cNvSpPr/>
          <p:nvPr/>
        </p:nvSpPr>
        <p:spPr>
          <a:xfrm>
            <a:off x="0" y="-1"/>
            <a:ext cx="30275966" cy="3457166"/>
          </a:xfrm>
          <a:prstGeom prst="rect">
            <a:avLst/>
          </a:prstGeom>
          <a:solidFill>
            <a:srgbClr val="EE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chemeClr val="accent5">
                    <a:lumOff val="20196"/>
                  </a:schemeClr>
                </a:solidFill>
              </a:defRPr>
            </a:pPr>
          </a:p>
        </p:txBody>
      </p:sp>
      <p:sp>
        <p:nvSpPr>
          <p:cNvPr id="21" name="cartoon-band"/>
          <p:cNvSpPr/>
          <p:nvPr/>
        </p:nvSpPr>
        <p:spPr>
          <a:xfrm>
            <a:off x="0" y="7809433"/>
            <a:ext cx="30275966" cy="93332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" name="overview-box" descr="overview-box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800" y="17472944"/>
            <a:ext cx="9825330" cy="24482430"/>
          </a:xfrm>
          <a:prstGeom prst="rect">
            <a:avLst/>
          </a:prstGeom>
        </p:spPr>
      </p:pic>
      <p:sp>
        <p:nvSpPr>
          <p:cNvPr id="24" name="what-box"/>
          <p:cNvSpPr/>
          <p:nvPr/>
        </p:nvSpPr>
        <p:spPr>
          <a:xfrm>
            <a:off x="571409" y="35070622"/>
            <a:ext cx="9038022" cy="2413651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 w="28575">
            <a:solidFill>
              <a:srgbClr val="A9D6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7" name="method-box"/>
          <p:cNvGrpSpPr/>
          <p:nvPr/>
        </p:nvGrpSpPr>
        <p:grpSpPr>
          <a:xfrm>
            <a:off x="10101508" y="17472944"/>
            <a:ext cx="19996750" cy="14958682"/>
            <a:chOff x="0" y="0"/>
            <a:chExt cx="19996748" cy="14958680"/>
          </a:xfrm>
        </p:grpSpPr>
        <p:sp>
          <p:nvSpPr>
            <p:cNvPr id="26" name="method-box"/>
            <p:cNvSpPr/>
            <p:nvPr/>
          </p:nvSpPr>
          <p:spPr>
            <a:xfrm>
              <a:off x="50800" y="50800"/>
              <a:ext cx="19895149" cy="14857081"/>
            </a:xfrm>
            <a:prstGeom prst="roundRect">
              <a:avLst>
                <a:gd name="adj" fmla="val 2308"/>
              </a:avLst>
            </a:prstGeom>
            <a:solidFill>
              <a:srgbClr val="E8EDF8"/>
            </a:solidFill>
            <a:ln>
              <a:noFil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5" name="method-box" descr="method-box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9996749" cy="14958681"/>
            </a:xfrm>
            <a:prstGeom prst="rect">
              <a:avLst/>
            </a:prstGeom>
            <a:effectLst/>
          </p:spPr>
        </p:pic>
      </p:grpSp>
      <p:pic>
        <p:nvPicPr>
          <p:cNvPr id="28" name="results-box" descr="results-box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101508" y="32615683"/>
            <a:ext cx="19996750" cy="9339601"/>
          </a:xfrm>
          <a:prstGeom prst="rect">
            <a:avLst/>
          </a:prstGeom>
        </p:spPr>
      </p:pic>
      <p:sp>
        <p:nvSpPr>
          <p:cNvPr id="30" name="title-block"/>
          <p:cNvSpPr txBox="1"/>
          <p:nvPr/>
        </p:nvSpPr>
        <p:spPr>
          <a:xfrm>
            <a:off x="1019006" y="419069"/>
            <a:ext cx="24914110" cy="2728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6600"/>
              </a:lnSpc>
              <a:defRPr sz="62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Tokens of Meaning: Semantically-Informed Morphological Tokenization in Low-Resource Language Modeling</a:t>
            </a:r>
          </a:p>
          <a:p>
            <a:pPr>
              <a:lnSpc>
                <a:spcPts val="4200"/>
              </a:lnSpc>
              <a:spcBef>
                <a:spcPts val="1300"/>
              </a:spcBef>
              <a:defRPr sz="33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Juan Diego Rodriguez</a:t>
            </a:r>
            <a:endParaRPr sz="6200"/>
          </a:p>
          <a:p>
            <a:pPr>
              <a:lnSpc>
                <a:spcPts val="2900"/>
              </a:lnSpc>
              <a:defRPr sz="22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The University of Texas at Austin</a:t>
            </a:r>
          </a:p>
        </p:txBody>
      </p:sp>
      <p:pic>
        <p:nvPicPr>
          <p:cNvPr id="31" name="qr-code-image" descr="qr-code-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7028384" y="495239"/>
            <a:ext cx="2380916" cy="2380915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qr-code"/>
          <p:cNvSpPr txBox="1"/>
          <p:nvPr/>
        </p:nvSpPr>
        <p:spPr>
          <a:xfrm>
            <a:off x="27904563" y="2971433"/>
            <a:ext cx="780990" cy="264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9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Code</a:t>
            </a:r>
          </a:p>
        </p:txBody>
      </p:sp>
      <p:sp>
        <p:nvSpPr>
          <p:cNvPr id="33" name="main-idea"/>
          <p:cNvSpPr txBox="1"/>
          <p:nvPr/>
        </p:nvSpPr>
        <p:spPr>
          <a:xfrm>
            <a:off x="1523756" y="3790462"/>
            <a:ext cx="27771242" cy="4007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200"/>
              </a:lnSpc>
              <a:defRPr spc="-154" sz="15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Split</a:t>
            </a:r>
            <a:r>
              <a:t> </a:t>
            </a:r>
            <a:r>
              <a:t>words</a:t>
            </a:r>
            <a:r>
              <a:t> </a:t>
            </a:r>
            <a:r>
              <a:t>into</a:t>
            </a:r>
            <a:r>
              <a:t> </a:t>
            </a:r>
            <a:r>
              <a:rPr>
                <a:solidFill>
                  <a:srgbClr val="000000"/>
                </a:solidFill>
              </a:rPr>
              <a:t>morphemes</a:t>
            </a:r>
          </a:p>
          <a:p>
            <a:pPr>
              <a:lnSpc>
                <a:spcPts val="12500"/>
              </a:lnSpc>
              <a:spcBef>
                <a:spcPts val="3000"/>
              </a:spcBef>
              <a:defRPr i="1" sz="112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but</a:t>
            </a:r>
            <a:r>
              <a:t> </a:t>
            </a:r>
            <a:r>
              <a:t>only</a:t>
            </a:r>
            <a:r>
              <a:t> </a:t>
            </a:r>
            <a:r>
              <a:t>when</a:t>
            </a:r>
            <a:r>
              <a:t> </a:t>
            </a:r>
            <a:r>
              <a:t>the</a:t>
            </a:r>
            <a:r>
              <a:t> </a:t>
            </a:r>
            <a:r>
              <a:t>split</a:t>
            </a:r>
            <a:r>
              <a:t> </a:t>
            </a:r>
            <a:r>
              <a:t>is</a:t>
            </a:r>
            <a:r>
              <a:t> </a:t>
            </a:r>
            <a:r>
              <a:t>meaningful</a:t>
            </a:r>
          </a:p>
        </p:txBody>
      </p:sp>
      <p:pic>
        <p:nvPicPr>
          <p:cNvPr id="34" name="cartoon" descr="cartoo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57159" y="8304672"/>
            <a:ext cx="28561742" cy="8304673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o1-heading"/>
          <p:cNvSpPr txBox="1"/>
          <p:nvPr/>
        </p:nvSpPr>
        <p:spPr>
          <a:xfrm>
            <a:off x="571408" y="17904683"/>
            <a:ext cx="9190454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Every token counts at 10M words</a:t>
            </a:r>
          </a:p>
        </p:txBody>
      </p:sp>
      <p:sp>
        <p:nvSpPr>
          <p:cNvPr id="36" name="o1-text"/>
          <p:cNvSpPr txBox="1"/>
          <p:nvPr/>
        </p:nvSpPr>
        <p:spPr>
          <a:xfrm>
            <a:off x="571408" y="18781593"/>
            <a:ext cx="9190454" cy="175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The BabyLM challenge trains language models on a child-sized budget of 10M words, so each word form is rare. Children readily extend morphological patterns (one wug, two wugs). A tokenizer can do the same: if related forms share a stem token, every form trains it.</a:t>
            </a:r>
          </a:p>
        </p:txBody>
      </p:sp>
      <p:pic>
        <p:nvPicPr>
          <p:cNvPr id="37" name="pooling" descr="pooli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71409" y="21317681"/>
            <a:ext cx="9038022" cy="2857135"/>
          </a:xfrm>
          <a:prstGeom prst="rect">
            <a:avLst/>
          </a:prstGeom>
          <a:ln w="12700">
            <a:miter lim="400000"/>
          </a:ln>
        </p:spPr>
      </p:pic>
      <p:sp>
        <p:nvSpPr>
          <p:cNvPr id="38" name="o1-note"/>
          <p:cNvSpPr txBox="1"/>
          <p:nvPr/>
        </p:nvSpPr>
        <p:spPr>
          <a:xfrm>
            <a:off x="571408" y="24479584"/>
            <a:ext cx="9190454" cy="670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A typical shared stem appears in about 3 word forms. That gives it about 36% more training signal than its most frequent form alone.</a:t>
            </a:r>
          </a:p>
        </p:txBody>
      </p:sp>
      <p:sp>
        <p:nvSpPr>
          <p:cNvPr id="39" name="o2-heading"/>
          <p:cNvSpPr txBox="1"/>
          <p:nvPr/>
        </p:nvSpPr>
        <p:spPr>
          <a:xfrm>
            <a:off x="571408" y="26183204"/>
            <a:ext cx="9190454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Statistical tokenizers ignore meaning</a:t>
            </a:r>
          </a:p>
        </p:txBody>
      </p:sp>
      <p:sp>
        <p:nvSpPr>
          <p:cNvPr id="40" name="o2-text"/>
          <p:cNvSpPr txBox="1"/>
          <p:nvPr/>
        </p:nvSpPr>
        <p:spPr>
          <a:xfrm>
            <a:off x="571408" y="27689404"/>
            <a:ext cx="9190454" cy="1308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BPE, WordPiece and Unigram split text to compress it. Their pieces often mean nothing (adder → ad der), and related words can end up with no token in common (unhappiness, happiness).</a:t>
            </a:r>
          </a:p>
        </p:txBody>
      </p:sp>
      <p:sp>
        <p:nvSpPr>
          <p:cNvPr id="41" name="o3-heading"/>
          <p:cNvSpPr txBox="1"/>
          <p:nvPr/>
        </p:nvSpPr>
        <p:spPr>
          <a:xfrm>
            <a:off x="571408" y="30037766"/>
            <a:ext cx="9190454" cy="123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Morpheme boundaries are not enough</a:t>
            </a:r>
          </a:p>
        </p:txBody>
      </p:sp>
      <p:sp>
        <p:nvSpPr>
          <p:cNvPr id="42" name="o3-text"/>
          <p:cNvSpPr txBox="1"/>
          <p:nvPr/>
        </p:nvSpPr>
        <p:spPr>
          <a:xfrm>
            <a:off x="571408" y="31543966"/>
            <a:ext cx="9190454" cy="1308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Splitting adder, a snake, into add er teaches the model that an adder is someone who adds, and it pollutes both pieces. A split helps only if:</a:t>
            </a:r>
          </a:p>
        </p:txBody>
      </p:sp>
      <p:sp>
        <p:nvSpPr>
          <p:cNvPr id="43" name="o3-list"/>
          <p:cNvSpPr txBox="1"/>
          <p:nvPr/>
        </p:nvSpPr>
        <p:spPr>
          <a:xfrm>
            <a:off x="647578" y="33130449"/>
            <a:ext cx="9114191" cy="991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Productive: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each piece is reused across the vocabulary.</a:t>
            </a:r>
          </a:p>
          <a:p>
            <a:pPr>
              <a:lnSpc>
                <a:spcPts val="3500"/>
              </a:lnSpc>
              <a:spcBef>
                <a:spcPts val="1000"/>
              </a:spcBef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Semantic: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the pieces are related to the word’s meaning.</a:t>
            </a:r>
          </a:p>
        </p:txBody>
      </p:sp>
      <p:sp>
        <p:nvSpPr>
          <p:cNvPr id="44" name="what-text"/>
          <p:cNvSpPr txBox="1"/>
          <p:nvPr/>
        </p:nvSpPr>
        <p:spPr>
          <a:xfrm>
            <a:off x="904799" y="35384903"/>
            <a:ext cx="8523762" cy="175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What we did.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We hand-curated an English morphological tokenizer that splits a word only when both conditions hold. We then trained child-scale language models with it, changing nothing but the tokenizer.</a:t>
            </a:r>
          </a:p>
        </p:txBody>
      </p:sp>
      <p:sp>
        <p:nvSpPr>
          <p:cNvPr id="45" name="o4-heading"/>
          <p:cNvSpPr txBox="1"/>
          <p:nvPr/>
        </p:nvSpPr>
        <p:spPr>
          <a:xfrm>
            <a:off x="571408" y="38493771"/>
            <a:ext cx="9190454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Beyond English</a:t>
            </a:r>
          </a:p>
        </p:txBody>
      </p:sp>
      <p:sp>
        <p:nvSpPr>
          <p:cNvPr id="46" name="o4-text"/>
          <p:cNvSpPr txBox="1"/>
          <p:nvPr/>
        </p:nvSpPr>
        <p:spPr>
          <a:xfrm>
            <a:off x="571408" y="39370772"/>
            <a:ext cx="9190454" cy="175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English morphology is sparse, so the sharing we can recover is modest. MorphyNet, our lexical backbone, covers 15 languages, and morphologically rich languages are where morphology-aware tokenizers have helped most.</a:t>
            </a:r>
          </a:p>
        </p:txBody>
      </p:sp>
      <p:sp>
        <p:nvSpPr>
          <p:cNvPr id="47" name="method-heading"/>
          <p:cNvSpPr txBox="1"/>
          <p:nvPr/>
        </p:nvSpPr>
        <p:spPr>
          <a:xfrm>
            <a:off x="10533247" y="17904683"/>
            <a:ext cx="19285611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Method: a meaning-aware morphological tokenizer</a:t>
            </a:r>
          </a:p>
        </p:txBody>
      </p:sp>
      <p:grpSp>
        <p:nvGrpSpPr>
          <p:cNvPr id="50" name="m1-heading-number"/>
          <p:cNvGrpSpPr/>
          <p:nvPr/>
        </p:nvGrpSpPr>
        <p:grpSpPr>
          <a:xfrm>
            <a:off x="10533247" y="18952219"/>
            <a:ext cx="533371" cy="533371"/>
            <a:chOff x="0" y="0"/>
            <a:chExt cx="533370" cy="533370"/>
          </a:xfrm>
        </p:grpSpPr>
        <p:sp>
          <p:nvSpPr>
            <p:cNvPr id="48" name="Circle"/>
            <p:cNvSpPr/>
            <p:nvPr/>
          </p:nvSpPr>
          <p:spPr>
            <a:xfrm>
              <a:off x="-1" y="-1"/>
              <a:ext cx="533372" cy="533372"/>
            </a:xfrm>
            <a:prstGeom prst="ellipse">
              <a:avLst/>
            </a:prstGeom>
            <a:solidFill>
              <a:srgbClr val="D260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/>
              </a:pPr>
            </a:p>
          </p:txBody>
        </p:sp>
        <p:sp>
          <p:nvSpPr>
            <p:cNvPr id="49" name="1"/>
            <p:cNvSpPr txBox="1"/>
            <p:nvPr/>
          </p:nvSpPr>
          <p:spPr>
            <a:xfrm>
              <a:off x="78109" y="101585"/>
              <a:ext cx="377152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  <a:latin typeface="Archivo SemiBold Bold"/>
                  <a:ea typeface="Archivo SemiBold Bold"/>
                  <a:cs typeface="Archivo SemiBold Bold"/>
                  <a:sym typeface="Archivo SemiBold Bold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51" name="m1-heading"/>
          <p:cNvSpPr txBox="1"/>
          <p:nvPr/>
        </p:nvSpPr>
        <p:spPr>
          <a:xfrm>
            <a:off x="11238066" y="18978005"/>
            <a:ext cx="4133272" cy="463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700"/>
              </a:lnSpc>
              <a:defRPr sz="33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When to split a word</a:t>
            </a:r>
          </a:p>
        </p:txBody>
      </p:sp>
      <p:sp>
        <p:nvSpPr>
          <p:cNvPr id="52" name="m1-text"/>
          <p:cNvSpPr txBox="1"/>
          <p:nvPr/>
        </p:nvSpPr>
        <p:spPr>
          <a:xfrm>
            <a:off x="10533247" y="19714190"/>
            <a:ext cx="9190453" cy="86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A candidate split is accepted only if it passes every check. Failing any one keeps the word whole.</a:t>
            </a:r>
          </a:p>
        </p:txBody>
      </p:sp>
      <p:pic>
        <p:nvPicPr>
          <p:cNvPr id="53" name="decision" descr="decision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0533247" y="20835244"/>
            <a:ext cx="9038022" cy="9523751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m1-note"/>
          <p:cNvSpPr txBox="1"/>
          <p:nvPr/>
        </p:nvSpPr>
        <p:spPr>
          <a:xfrm>
            <a:off x="10533247" y="30587593"/>
            <a:ext cx="9190453" cy="670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Two more cases stay whole: genuinely ambiguous forms (leaves: leaf + s or leave + s) and proper names with no common-noun use.</a:t>
            </a:r>
          </a:p>
        </p:txBody>
      </p:sp>
      <p:grpSp>
        <p:nvGrpSpPr>
          <p:cNvPr id="57" name="m2-heading-number"/>
          <p:cNvGrpSpPr/>
          <p:nvPr/>
        </p:nvGrpSpPr>
        <p:grpSpPr>
          <a:xfrm>
            <a:off x="20628407" y="18952219"/>
            <a:ext cx="533371" cy="533371"/>
            <a:chOff x="0" y="0"/>
            <a:chExt cx="533370" cy="533370"/>
          </a:xfrm>
        </p:grpSpPr>
        <p:sp>
          <p:nvSpPr>
            <p:cNvPr id="55" name="Circle"/>
            <p:cNvSpPr/>
            <p:nvPr/>
          </p:nvSpPr>
          <p:spPr>
            <a:xfrm>
              <a:off x="-1" y="-1"/>
              <a:ext cx="533372" cy="533372"/>
            </a:xfrm>
            <a:prstGeom prst="ellipse">
              <a:avLst/>
            </a:prstGeom>
            <a:solidFill>
              <a:srgbClr val="D260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/>
              </a:pPr>
            </a:p>
          </p:txBody>
        </p:sp>
        <p:sp>
          <p:nvSpPr>
            <p:cNvPr id="56" name="2"/>
            <p:cNvSpPr txBox="1"/>
            <p:nvPr/>
          </p:nvSpPr>
          <p:spPr>
            <a:xfrm>
              <a:off x="78109" y="101585"/>
              <a:ext cx="377152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  <a:latin typeface="Archivo SemiBold Bold"/>
                  <a:ea typeface="Archivo SemiBold Bold"/>
                  <a:cs typeface="Archivo SemiBold Bold"/>
                  <a:sym typeface="Archivo SemiBold Bold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58" name="m2-heading"/>
          <p:cNvSpPr txBox="1"/>
          <p:nvPr/>
        </p:nvSpPr>
        <p:spPr>
          <a:xfrm>
            <a:off x="21333226" y="18978005"/>
            <a:ext cx="2816353" cy="463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700"/>
              </a:lnSpc>
              <a:defRPr sz="33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How to split it</a:t>
            </a:r>
          </a:p>
        </p:txBody>
      </p:sp>
      <p:sp>
        <p:nvSpPr>
          <p:cNvPr id="59" name="m2-text"/>
          <p:cNvSpPr txBox="1"/>
          <p:nvPr/>
        </p:nvSpPr>
        <p:spPr>
          <a:xfrm>
            <a:off x="20628407" y="19714190"/>
            <a:ext cx="9190453" cy="41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Emit lemma-level morphemes, so spelling variants share one token:</a:t>
            </a:r>
          </a:p>
        </p:txBody>
      </p:sp>
      <p:pic>
        <p:nvPicPr>
          <p:cNvPr id="60" name="normalize" descr="normalize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0628407" y="20835244"/>
            <a:ext cx="9038022" cy="1619038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m2-text-2"/>
          <p:cNvSpPr txBox="1"/>
          <p:nvPr/>
        </p:nvSpPr>
        <p:spPr>
          <a:xfrm>
            <a:off x="20628407" y="22682880"/>
            <a:ext cx="9190453" cy="86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Prefer a free word or a recurring root to an invented stem: legitimate stays whole rather than minting the stem legitim.</a:t>
            </a:r>
          </a:p>
        </p:txBody>
      </p:sp>
      <p:grpSp>
        <p:nvGrpSpPr>
          <p:cNvPr id="64" name="m3-heading-number"/>
          <p:cNvGrpSpPr/>
          <p:nvPr/>
        </p:nvGrpSpPr>
        <p:grpSpPr>
          <a:xfrm>
            <a:off x="20628407" y="24051646"/>
            <a:ext cx="533371" cy="533371"/>
            <a:chOff x="0" y="0"/>
            <a:chExt cx="533370" cy="533370"/>
          </a:xfrm>
        </p:grpSpPr>
        <p:sp>
          <p:nvSpPr>
            <p:cNvPr id="62" name="Circle"/>
            <p:cNvSpPr/>
            <p:nvPr/>
          </p:nvSpPr>
          <p:spPr>
            <a:xfrm>
              <a:off x="-1" y="-1"/>
              <a:ext cx="533372" cy="533372"/>
            </a:xfrm>
            <a:prstGeom prst="ellipse">
              <a:avLst/>
            </a:prstGeom>
            <a:solidFill>
              <a:srgbClr val="D260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/>
              </a:pPr>
            </a:p>
          </p:txBody>
        </p:sp>
        <p:sp>
          <p:nvSpPr>
            <p:cNvPr id="63" name="3"/>
            <p:cNvSpPr txBox="1"/>
            <p:nvPr/>
          </p:nvSpPr>
          <p:spPr>
            <a:xfrm>
              <a:off x="78109" y="101585"/>
              <a:ext cx="377152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  <a:latin typeface="Archivo SemiBold Bold"/>
                  <a:ea typeface="Archivo SemiBold Bold"/>
                  <a:cs typeface="Archivo SemiBold Bold"/>
                  <a:sym typeface="Archivo SemiBold Bold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65" name="m3-heading"/>
          <p:cNvSpPr txBox="1"/>
          <p:nvPr/>
        </p:nvSpPr>
        <p:spPr>
          <a:xfrm>
            <a:off x="21333226" y="24077341"/>
            <a:ext cx="3014138" cy="463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700"/>
              </a:lnSpc>
              <a:defRPr sz="33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How we built it</a:t>
            </a:r>
          </a:p>
        </p:txBody>
      </p:sp>
      <p:sp>
        <p:nvSpPr>
          <p:cNvPr id="66" name="m3-text"/>
          <p:cNvSpPr txBox="1"/>
          <p:nvPr/>
        </p:nvSpPr>
        <p:spPr>
          <a:xfrm>
            <a:off x="20628407" y="24813524"/>
            <a:ext cx="9190453" cy="1308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MorphyNet supplies candidate splits. Its inflection table is clean enough to use almost as is. Its derivation table records history, not modern structure (king → kin ing), so it only proposes candidates.</a:t>
            </a:r>
          </a:p>
        </p:txBody>
      </p:sp>
      <p:sp>
        <p:nvSpPr>
          <p:cNvPr id="67" name="m3-text-2"/>
          <p:cNvSpPr txBox="1"/>
          <p:nvPr/>
        </p:nvSpPr>
        <p:spPr>
          <a:xfrm>
            <a:off x="20628407" y="26827215"/>
            <a:ext cx="9190453" cy="175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We hand-segmented 22,137 frequent words, rejecting about 53% of the MorphyNet derivational splits they overlapped. LLM agents (Claude Code) reviewed candidates adversarially; the author made every final decision.</a:t>
            </a:r>
          </a:p>
        </p:txBody>
      </p:sp>
      <p:sp>
        <p:nvSpPr>
          <p:cNvPr id="68" name="stat-morphemes"/>
          <p:cNvSpPr txBox="1"/>
          <p:nvPr/>
        </p:nvSpPr>
        <p:spPr>
          <a:xfrm>
            <a:off x="20628407" y="29012359"/>
            <a:ext cx="2987163" cy="1419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900"/>
              </a:lnSpc>
              <a:defRPr sz="5600">
                <a:solidFill>
                  <a:srgbClr val="2F5D9B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36,638</a:t>
            </a:r>
          </a:p>
          <a:p>
            <a: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morphemes in the vocabulary</a:t>
            </a:r>
          </a:p>
        </p:txBody>
      </p:sp>
      <p:sp>
        <p:nvSpPr>
          <p:cNvPr id="69" name="stat-oov"/>
          <p:cNvSpPr txBox="1"/>
          <p:nvPr/>
        </p:nvSpPr>
        <p:spPr>
          <a:xfrm>
            <a:off x="23729869" y="29012359"/>
            <a:ext cx="2987346" cy="1419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900"/>
              </a:lnSpc>
              <a:defRPr sz="5600">
                <a:solidFill>
                  <a:srgbClr val="2F5D9B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1.0%</a:t>
            </a:r>
          </a:p>
          <a:p>
            <a: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out-of-vocabulary tokens, with no subword fallback</a:t>
            </a:r>
          </a:p>
        </p:txBody>
      </p:sp>
      <p:sp>
        <p:nvSpPr>
          <p:cNvPr id="70" name="stat-shared"/>
          <p:cNvSpPr txBox="1"/>
          <p:nvPr/>
        </p:nvSpPr>
        <p:spPr>
          <a:xfrm>
            <a:off x="26831512" y="29012359"/>
            <a:ext cx="2987163" cy="1419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900"/>
              </a:lnSpc>
              <a:defRPr sz="5600">
                <a:solidFill>
                  <a:srgbClr val="2F5D9B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41.9%</a:t>
            </a:r>
          </a:p>
          <a:p>
            <a: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of morphemes shared by two or more word forms</a:t>
            </a:r>
          </a:p>
        </p:txBody>
      </p:sp>
      <p:sp>
        <p:nvSpPr>
          <p:cNvPr id="71" name="results-heading"/>
          <p:cNvSpPr txBox="1"/>
          <p:nvPr/>
        </p:nvSpPr>
        <p:spPr>
          <a:xfrm>
            <a:off x="10533247" y="33047421"/>
            <a:ext cx="19285611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72" name="leaderboard-text"/>
          <p:cNvSpPr txBox="1"/>
          <p:nvPr/>
        </p:nvSpPr>
        <p:spPr>
          <a:xfrm>
            <a:off x="10533247" y="34095050"/>
            <a:ext cx="9190453" cy="1308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Leaderboard.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On the BabyLM 2026 strict-small leaderboard, our submitted model ranks 2nd on COMPS (54.67) and 3rd on EWoK (53.2), with 72.53 on BLiMP.</a:t>
            </a:r>
          </a:p>
        </p:txBody>
      </p:sp>
      <p:sp>
        <p:nvSpPr>
          <p:cNvPr id="73" name="curation-text"/>
          <p:cNvSpPr txBox="1"/>
          <p:nvPr/>
        </p:nvSpPr>
        <p:spPr>
          <a:xfrm>
            <a:off x="10533247" y="35814762"/>
            <a:ext cx="9190453" cy="1308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Curation is what helps.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Against an uncurated tokenizer built from the same MorphyNet source, with the same model, data and seed, ours gains +1.4 BLiMP (66.35 vs 64.96).</a:t>
            </a:r>
          </a:p>
        </p:txBody>
      </p:sp>
      <p:sp>
        <p:nvSpPr>
          <p:cNvPr id="74" name="comps-text"/>
          <p:cNvSpPr txBox="1"/>
          <p:nvPr/>
        </p:nvSpPr>
        <p:spPr>
          <a:xfrm>
            <a:off x="10533247" y="37534564"/>
            <a:ext cx="9190453" cy="86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Concepts.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On COMPS, the three morphology-based tokenizers take the top three places in that controlled comparison.</a:t>
            </a:r>
          </a:p>
        </p:txBody>
      </p:sp>
      <p:sp>
        <p:nvSpPr>
          <p:cNvPr id="75" name="chart-title"/>
          <p:cNvSpPr txBox="1"/>
          <p:nvPr/>
        </p:nvSpPr>
        <p:spPr>
          <a:xfrm>
            <a:off x="20437936" y="34095050"/>
            <a:ext cx="9380923" cy="41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Same training recipe, only the tokenizer changes</a:t>
            </a:r>
          </a:p>
        </p:txBody>
      </p:sp>
      <p:pic>
        <p:nvPicPr>
          <p:cNvPr id="76" name="results-chart" descr="results-chart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20437936" y="34674596"/>
            <a:ext cx="9228492" cy="5533310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chart-note"/>
          <p:cNvSpPr txBox="1"/>
          <p:nvPr/>
        </p:nvSpPr>
        <p:spPr>
          <a:xfrm>
            <a:off x="20437936" y="40341224"/>
            <a:ext cx="9380923" cy="670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The submitted tokenizer also drops morphemes seen fewer than three times and spells out unknown pieces as characters.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