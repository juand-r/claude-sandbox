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6000" cy="42804000"/>
  <p:notesSz cx="42804000" cy="30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band"/>
          <p:cNvSpPr/>
          <p:nvPr/>
        </p:nvSpPr>
        <p:spPr>
          <a:xfrm>
            <a:off x="0" y="0"/>
            <a:ext cx="30275967" cy="3457164"/>
          </a:xfrm>
          <a:prstGeom prst="rect">
            <a:avLst/>
          </a:prstGeom>
          <a:solidFill>
            <a:srgbClr val="ECFAE2"/>
          </a:solidFill>
          <a:ln/>
        </p:spPr>
      </p:sp>
      <p:sp>
        <p:nvSpPr>
          <p:cNvPr id="3" name="cartoon-band"/>
          <p:cNvSpPr/>
          <p:nvPr/>
        </p:nvSpPr>
        <p:spPr>
          <a:xfrm>
            <a:off x="0" y="7809433"/>
            <a:ext cx="30275967" cy="9333281"/>
          </a:xfrm>
          <a:prstGeom prst="rect">
            <a:avLst/>
          </a:prstGeom>
          <a:solidFill>
            <a:srgbClr val="D2E2C8"/>
          </a:solidFill>
          <a:ln/>
        </p:spPr>
      </p:sp>
      <p:sp>
        <p:nvSpPr>
          <p:cNvPr id="4" name="overview-box"/>
          <p:cNvSpPr/>
          <p:nvPr/>
        </p:nvSpPr>
        <p:spPr>
          <a:xfrm>
            <a:off x="228600" y="17523744"/>
            <a:ext cx="9723730" cy="24380830"/>
          </a:xfrm>
          <a:prstGeom prst="roundRect">
            <a:avLst>
              <a:gd name="adj" fmla="val 3526"/>
            </a:avLst>
          </a:prstGeom>
          <a:solidFill>
            <a:srgbClr val="DBF2F9"/>
          </a:solidFill>
          <a:ln w="28575">
            <a:solidFill>
              <a:srgbClr val="A9D6E6"/>
            </a:solidFill>
            <a:prstDash val="solid"/>
          </a:ln>
        </p:spPr>
      </p:sp>
      <p:sp>
        <p:nvSpPr>
          <p:cNvPr id="5" name="what-box"/>
          <p:cNvSpPr/>
          <p:nvPr/>
        </p:nvSpPr>
        <p:spPr>
          <a:xfrm>
            <a:off x="571409" y="35070623"/>
            <a:ext cx="9038021" cy="2413650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 w="28575">
            <a:solidFill>
              <a:srgbClr val="A9D6E6"/>
            </a:solidFill>
            <a:prstDash val="solid"/>
          </a:ln>
        </p:spPr>
      </p:sp>
      <p:sp>
        <p:nvSpPr>
          <p:cNvPr id="6" name="method-box"/>
          <p:cNvSpPr/>
          <p:nvPr/>
        </p:nvSpPr>
        <p:spPr>
          <a:xfrm>
            <a:off x="10152309" y="17523744"/>
            <a:ext cx="19895149" cy="14857080"/>
          </a:xfrm>
          <a:prstGeom prst="roundRect">
            <a:avLst>
              <a:gd name="adj" fmla="val 2308"/>
            </a:avLst>
          </a:prstGeom>
          <a:solidFill>
            <a:srgbClr val="E8EDF8"/>
          </a:solidFill>
          <a:ln w="28575">
            <a:solidFill>
              <a:srgbClr val="BCC8E6"/>
            </a:solidFill>
            <a:prstDash val="solid"/>
          </a:ln>
        </p:spPr>
      </p:sp>
      <p:sp>
        <p:nvSpPr>
          <p:cNvPr id="7" name="results-box"/>
          <p:cNvSpPr/>
          <p:nvPr/>
        </p:nvSpPr>
        <p:spPr>
          <a:xfrm>
            <a:off x="10152309" y="32666483"/>
            <a:ext cx="19895149" cy="9238000"/>
          </a:xfrm>
          <a:prstGeom prst="roundRect">
            <a:avLst>
              <a:gd name="adj" fmla="val 3712"/>
            </a:avLst>
          </a:prstGeom>
          <a:solidFill>
            <a:srgbClr val="F2EAF6"/>
          </a:solidFill>
          <a:ln w="28575">
            <a:solidFill>
              <a:srgbClr val="D9C6E4"/>
            </a:solidFill>
            <a:prstDash val="solid"/>
          </a:ln>
        </p:spPr>
      </p:sp>
      <p:sp>
        <p:nvSpPr>
          <p:cNvPr id="8" name="title-block"/>
          <p:cNvSpPr txBox="1"/>
          <p:nvPr/>
        </p:nvSpPr>
        <p:spPr>
          <a:xfrm>
            <a:off x="1019007" y="419070"/>
            <a:ext cx="24914108" cy="278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Token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 of Mean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ing: Semantic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ally-Inform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ed Morpholog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ical Tokenization in Low-Resource Language Model</a:t>
            </a:r>
            <a:pPr algn="l" indent="0" marL="0">
              <a:lnSpc>
                <a:spcPts val="6677"/>
              </a:lnSpc>
              <a:buNone/>
            </a:pPr>
            <a:r>
              <a:rPr lang="en-US" sz="7559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∙</a:t>
            </a:r>
            <a:pPr algn="l" indent="0" marL="0">
              <a:lnSpc>
                <a:spcPts val="6677"/>
              </a:lnSpc>
              <a:buNone/>
            </a:pPr>
            <a:r>
              <a:rPr lang="en-US" sz="6299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ing</a:t>
            </a:r>
            <a:endParaRPr lang="en-US" sz="6299" dirty="0"/>
          </a:p>
          <a:p>
            <a:pPr algn="l" indent="0" marL="0">
              <a:lnSpc>
                <a:spcPts val="4289"/>
              </a:lnSpc>
              <a:spcBef>
                <a:spcPts val="1350"/>
              </a:spcBef>
              <a:buNone/>
            </a:pPr>
            <a:r>
              <a:rPr lang="en-US" sz="33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Juan Diego Rodriguez</a:t>
            </a:r>
            <a:endParaRPr lang="en-US" sz="6299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University of Texas at Austin</a:t>
            </a:r>
            <a:endParaRPr lang="en-US" sz="6299" dirty="0"/>
          </a:p>
        </p:txBody>
      </p:sp>
      <p:pic>
        <p:nvPicPr>
          <p:cNvPr id="9" name="qr-code-image" descr="/home/user/claude-sandbox/explorations/tokens-poster/assets/qr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28384" y="495239"/>
            <a:ext cx="2380915" cy="2380915"/>
          </a:xfrm>
          <a:prstGeom prst="rect">
            <a:avLst/>
          </a:prstGeom>
        </p:spPr>
      </p:pic>
      <p:sp>
        <p:nvSpPr>
          <p:cNvPr id="10" name="qr-code"/>
          <p:cNvSpPr txBox="1"/>
          <p:nvPr/>
        </p:nvSpPr>
        <p:spPr>
          <a:xfrm>
            <a:off x="27904562" y="2971434"/>
            <a:ext cx="780989" cy="27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</a:t>
            </a:r>
            <a:endParaRPr lang="en-US" sz="1950" dirty="0"/>
          </a:p>
        </p:txBody>
      </p:sp>
      <p:sp>
        <p:nvSpPr>
          <p:cNvPr id="11" name="main-idea"/>
          <p:cNvSpPr txBox="1"/>
          <p:nvPr/>
        </p:nvSpPr>
        <p:spPr>
          <a:xfrm>
            <a:off x="1523756" y="3790462"/>
            <a:ext cx="27771242" cy="365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20"/>
              </a:lnSpc>
              <a:buNone/>
            </a:pPr>
            <a:r>
              <a:rPr lang="en-US" sz="15448" spc="-154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Split words into </a:t>
            </a:r>
            <a:pPr algn="l" indent="0" marL="0">
              <a:lnSpc>
                <a:spcPts val="16220"/>
              </a:lnSpc>
              <a:buNone/>
            </a:pPr>
            <a:r>
              <a:rPr lang="en-US" sz="15448" spc="-154" kern="0" dirty="0">
                <a:solidFill>
                  <a:srgbClr val="BD07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morphemes</a:t>
            </a:r>
            <a:endParaRPr lang="en-US" sz="15448" dirty="0"/>
          </a:p>
          <a:p>
            <a:pPr algn="l" indent="0" marL="0">
              <a:lnSpc>
                <a:spcPts val="12598"/>
              </a:lnSpc>
              <a:buNone/>
            </a:pPr>
            <a:r>
              <a:rPr lang="en-US" sz="11249" i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only when the pieces keep the </a:t>
            </a:r>
            <a:pPr algn="l" indent="0" marL="0">
              <a:lnSpc>
                <a:spcPts val="12598"/>
              </a:lnSpc>
              <a:buNone/>
            </a:pPr>
            <a:r>
              <a:rPr lang="en-US" sz="11249" i="1" dirty="0">
                <a:solidFill>
                  <a:srgbClr val="BD07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meaning</a:t>
            </a:r>
            <a:endParaRPr lang="en-US" sz="15448" dirty="0"/>
          </a:p>
        </p:txBody>
      </p:sp>
      <p:pic>
        <p:nvPicPr>
          <p:cNvPr id="12" name="cartoon" descr="/home/user/claude-sandbox/explorations/tokens-poster/figures/cart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59" y="8304672"/>
            <a:ext cx="28561741" cy="8304672"/>
          </a:xfrm>
          <a:prstGeom prst="rect">
            <a:avLst/>
          </a:prstGeom>
        </p:spPr>
      </p:pic>
      <p:sp>
        <p:nvSpPr>
          <p:cNvPr id="13" name="o1-heading"/>
          <p:cNvSpPr txBox="1"/>
          <p:nvPr/>
        </p:nvSpPr>
        <p:spPr>
          <a:xfrm>
            <a:off x="571409" y="17904684"/>
            <a:ext cx="9190452" cy="629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token counts at 10M words</a:t>
            </a:r>
            <a:endParaRPr lang="en-US" sz="4424" dirty="0"/>
          </a:p>
        </p:txBody>
      </p:sp>
      <p:sp>
        <p:nvSpPr>
          <p:cNvPr id="14" name="o1-text"/>
          <p:cNvSpPr txBox="1"/>
          <p:nvPr/>
        </p:nvSpPr>
        <p:spPr>
          <a:xfrm>
            <a:off x="571409" y="18781593"/>
            <a:ext cx="9190452" cy="2231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BabyLM challenge trains language models on a child-sized budget of 10M words, so each word form is rare. Children readily extend morphological patterns (one wug, two wugs). A tokenizer can do the same: if related forms share a stem token, every form trains it.</a:t>
            </a:r>
            <a:endParaRPr lang="en-US" sz="2475" dirty="0"/>
          </a:p>
        </p:txBody>
      </p:sp>
      <p:pic>
        <p:nvPicPr>
          <p:cNvPr id="15" name="pooling" descr="/home/user/claude-sandbox/explorations/tokens-poster/figures/poo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09" y="21317682"/>
            <a:ext cx="9038021" cy="2857134"/>
          </a:xfrm>
          <a:prstGeom prst="rect">
            <a:avLst/>
          </a:prstGeom>
        </p:spPr>
      </p:pic>
      <p:sp>
        <p:nvSpPr>
          <p:cNvPr id="16" name="o1-note"/>
          <p:cNvSpPr txBox="1"/>
          <p:nvPr/>
        </p:nvSpPr>
        <p:spPr>
          <a:xfrm>
            <a:off x="571409" y="24479585"/>
            <a:ext cx="9190452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typical shared stem appears in about 3 word forms. That gives it about 36% more training signal than its most frequent form alone.</a:t>
            </a:r>
            <a:endParaRPr lang="en-US" sz="2025" dirty="0"/>
          </a:p>
        </p:txBody>
      </p:sp>
      <p:sp>
        <p:nvSpPr>
          <p:cNvPr id="17" name="o2-heading"/>
          <p:cNvSpPr txBox="1"/>
          <p:nvPr/>
        </p:nvSpPr>
        <p:spPr>
          <a:xfrm>
            <a:off x="571409" y="26183204"/>
            <a:ext cx="9190452" cy="125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Statistical tokenizers ignore meaning</a:t>
            </a:r>
            <a:endParaRPr lang="en-US" sz="4424" dirty="0"/>
          </a:p>
        </p:txBody>
      </p:sp>
      <p:sp>
        <p:nvSpPr>
          <p:cNvPr id="18" name="o2-text"/>
          <p:cNvSpPr txBox="1"/>
          <p:nvPr/>
        </p:nvSpPr>
        <p:spPr>
          <a:xfrm>
            <a:off x="571409" y="27689404"/>
            <a:ext cx="9190452" cy="1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BPE, WordPiece and Unigram split text to compress it. Their pieces often mean nothing (adder → ad der), and related words can end up with no token in common (unhappiness, happiness).</a:t>
            </a:r>
            <a:endParaRPr lang="en-US" sz="2475" dirty="0"/>
          </a:p>
        </p:txBody>
      </p:sp>
      <p:sp>
        <p:nvSpPr>
          <p:cNvPr id="19" name="o3-heading"/>
          <p:cNvSpPr txBox="1"/>
          <p:nvPr/>
        </p:nvSpPr>
        <p:spPr>
          <a:xfrm>
            <a:off x="571409" y="30037766"/>
            <a:ext cx="9190452" cy="125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Morpheme boundaries are not enough</a:t>
            </a:r>
            <a:endParaRPr lang="en-US" sz="4424" dirty="0"/>
          </a:p>
        </p:txBody>
      </p:sp>
      <p:sp>
        <p:nvSpPr>
          <p:cNvPr id="20" name="o3-text"/>
          <p:cNvSpPr txBox="1"/>
          <p:nvPr/>
        </p:nvSpPr>
        <p:spPr>
          <a:xfrm>
            <a:off x="571409" y="31543965"/>
            <a:ext cx="9190452" cy="1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Splitting adder, a snake, into add er teaches the model that an adder is someone who adds, and it pollutes both pieces. A split helps only if:</a:t>
            </a:r>
            <a:endParaRPr lang="en-US" sz="2475" dirty="0"/>
          </a:p>
        </p:txBody>
      </p:sp>
      <p:sp>
        <p:nvSpPr>
          <p:cNvPr id="21" name="o3-list"/>
          <p:cNvSpPr txBox="1"/>
          <p:nvPr/>
        </p:nvSpPr>
        <p:spPr>
          <a:xfrm>
            <a:off x="647578" y="33130449"/>
            <a:ext cx="9114191" cy="1025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Productive:</a:t>
            </a:r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each piece is reused across the vocabulary.</a:t>
            </a:r>
            <a:endParaRPr lang="en-US" sz="2475" dirty="0"/>
          </a:p>
          <a:p>
            <a:pPr algn="l" indent="0" marL="0">
              <a:lnSpc>
                <a:spcPts val="3514"/>
              </a:lnSpc>
              <a:spcBef>
                <a:spcPts val="1050"/>
              </a:spcBef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Semantic:</a:t>
            </a:r>
            <a:pPr algn="l" indent="0" marL="0">
              <a:lnSpc>
                <a:spcPts val="3514"/>
              </a:lnSpc>
              <a:spcBef>
                <a:spcPts val="1050"/>
              </a:spcBef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the pieces are related to the word’s meaning.</a:t>
            </a:r>
            <a:endParaRPr lang="en-US" sz="2475" dirty="0"/>
          </a:p>
        </p:txBody>
      </p:sp>
      <p:sp>
        <p:nvSpPr>
          <p:cNvPr id="22" name="what-text"/>
          <p:cNvSpPr txBox="1"/>
          <p:nvPr/>
        </p:nvSpPr>
        <p:spPr>
          <a:xfrm>
            <a:off x="904799" y="35384903"/>
            <a:ext cx="8523762" cy="178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we did.</a:t>
            </a:r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We hand-curated an English morphological tokenizer that splits a word only when both conditions hold. We then trained child-scale language models with it, changing nothing but the tokenizer.</a:t>
            </a:r>
            <a:endParaRPr lang="en-US" sz="2475" dirty="0"/>
          </a:p>
        </p:txBody>
      </p:sp>
      <p:sp>
        <p:nvSpPr>
          <p:cNvPr id="23" name="o4-heading"/>
          <p:cNvSpPr txBox="1"/>
          <p:nvPr/>
        </p:nvSpPr>
        <p:spPr>
          <a:xfrm>
            <a:off x="571409" y="38493771"/>
            <a:ext cx="9190452" cy="629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Beyond English</a:t>
            </a:r>
            <a:endParaRPr lang="en-US" sz="4424" dirty="0"/>
          </a:p>
        </p:txBody>
      </p:sp>
      <p:sp>
        <p:nvSpPr>
          <p:cNvPr id="24" name="o4-text"/>
          <p:cNvSpPr txBox="1"/>
          <p:nvPr/>
        </p:nvSpPr>
        <p:spPr>
          <a:xfrm>
            <a:off x="571409" y="39370772"/>
            <a:ext cx="9190452" cy="178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English morphology is sparse, so the sharing we can recover is modest. MorphyNet, our lexical backbone, covers 15 languages, and morphologically rich languages are where morphology-aware tokenizers have helped most.</a:t>
            </a:r>
            <a:endParaRPr lang="en-US" sz="2475" dirty="0"/>
          </a:p>
        </p:txBody>
      </p:sp>
      <p:sp>
        <p:nvSpPr>
          <p:cNvPr id="25" name="method-heading"/>
          <p:cNvSpPr txBox="1"/>
          <p:nvPr/>
        </p:nvSpPr>
        <p:spPr>
          <a:xfrm>
            <a:off x="10533248" y="17904684"/>
            <a:ext cx="19285610" cy="629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Method: a meaning-aware morphological tokenizer</a:t>
            </a:r>
            <a:endParaRPr lang="en-US" sz="4424" dirty="0"/>
          </a:p>
        </p:txBody>
      </p:sp>
      <p:sp>
        <p:nvSpPr>
          <p:cNvPr id="26" name="m1-heading-number"/>
          <p:cNvSpPr/>
          <p:nvPr/>
        </p:nvSpPr>
        <p:spPr>
          <a:xfrm>
            <a:off x="10533248" y="18952220"/>
            <a:ext cx="533370" cy="533370"/>
          </a:xfrm>
          <a:prstGeom prst="ellipse">
            <a:avLst/>
          </a:prstGeom>
          <a:solidFill>
            <a:srgbClr val="D260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2400" dirty="0"/>
          </a:p>
        </p:txBody>
      </p:sp>
      <p:sp>
        <p:nvSpPr>
          <p:cNvPr id="27" name="m1-heading"/>
          <p:cNvSpPr txBox="1"/>
          <p:nvPr/>
        </p:nvSpPr>
        <p:spPr>
          <a:xfrm>
            <a:off x="11238067" y="18978006"/>
            <a:ext cx="4133271" cy="48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 to split a word</a:t>
            </a:r>
            <a:endParaRPr lang="en-US" sz="3300" dirty="0"/>
          </a:p>
        </p:txBody>
      </p:sp>
      <p:sp>
        <p:nvSpPr>
          <p:cNvPr id="28" name="m1-text"/>
          <p:cNvSpPr txBox="1"/>
          <p:nvPr/>
        </p:nvSpPr>
        <p:spPr>
          <a:xfrm>
            <a:off x="10533248" y="19714190"/>
            <a:ext cx="9190452" cy="89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candidate split is accepted only if it passes every check. Failing any one keeps the word whole.</a:t>
            </a:r>
            <a:endParaRPr lang="en-US" sz="2475" dirty="0"/>
          </a:p>
        </p:txBody>
      </p:sp>
      <p:pic>
        <p:nvPicPr>
          <p:cNvPr id="29" name="decision" descr="/home/user/claude-sandbox/explorations/tokens-poster/figures/deci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248" y="20835244"/>
            <a:ext cx="9038021" cy="9523750"/>
          </a:xfrm>
          <a:prstGeom prst="rect">
            <a:avLst/>
          </a:prstGeom>
        </p:spPr>
      </p:pic>
      <p:sp>
        <p:nvSpPr>
          <p:cNvPr id="30" name="m1-note"/>
          <p:cNvSpPr txBox="1"/>
          <p:nvPr/>
        </p:nvSpPr>
        <p:spPr>
          <a:xfrm>
            <a:off x="10533248" y="30587594"/>
            <a:ext cx="9190452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more cases stay whole: genuinely ambiguous forms (leaves: leaf + s or leave + s) and proper names with no common-noun use.</a:t>
            </a:r>
            <a:endParaRPr lang="en-US" sz="2025" dirty="0"/>
          </a:p>
        </p:txBody>
      </p:sp>
      <p:sp>
        <p:nvSpPr>
          <p:cNvPr id="31" name="m2-heading-number"/>
          <p:cNvSpPr/>
          <p:nvPr/>
        </p:nvSpPr>
        <p:spPr>
          <a:xfrm>
            <a:off x="20628407" y="18952220"/>
            <a:ext cx="533370" cy="533370"/>
          </a:xfrm>
          <a:prstGeom prst="ellipse">
            <a:avLst/>
          </a:prstGeom>
          <a:solidFill>
            <a:srgbClr val="D260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m2-heading"/>
          <p:cNvSpPr txBox="1"/>
          <p:nvPr/>
        </p:nvSpPr>
        <p:spPr>
          <a:xfrm>
            <a:off x="21333226" y="18978006"/>
            <a:ext cx="2816352" cy="48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to split it</a:t>
            </a:r>
            <a:endParaRPr lang="en-US" sz="3300" dirty="0"/>
          </a:p>
        </p:txBody>
      </p:sp>
      <p:sp>
        <p:nvSpPr>
          <p:cNvPr id="33" name="m2-text"/>
          <p:cNvSpPr txBox="1"/>
          <p:nvPr/>
        </p:nvSpPr>
        <p:spPr>
          <a:xfrm>
            <a:off x="20628407" y="19714190"/>
            <a:ext cx="9190452" cy="89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Emit lemma-level morphemes, so spelling variants share one token:</a:t>
            </a:r>
            <a:endParaRPr lang="en-US" sz="2475" dirty="0"/>
          </a:p>
        </p:txBody>
      </p:sp>
      <p:pic>
        <p:nvPicPr>
          <p:cNvPr id="34" name="normalize" descr="/home/user/claude-sandbox/explorations/tokens-poster/figures/normaliz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8407" y="20835244"/>
            <a:ext cx="9038021" cy="1619037"/>
          </a:xfrm>
          <a:prstGeom prst="rect">
            <a:avLst/>
          </a:prstGeom>
        </p:spPr>
      </p:pic>
      <p:sp>
        <p:nvSpPr>
          <p:cNvPr id="35" name="m2-text-2"/>
          <p:cNvSpPr txBox="1"/>
          <p:nvPr/>
        </p:nvSpPr>
        <p:spPr>
          <a:xfrm>
            <a:off x="20628407" y="22682881"/>
            <a:ext cx="9190452" cy="89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Prefer a free word or a recurring root to an invented stem: legitimate stays whole rather than minting the stem legitim.</a:t>
            </a:r>
            <a:endParaRPr lang="en-US" sz="2475" dirty="0"/>
          </a:p>
        </p:txBody>
      </p:sp>
      <p:sp>
        <p:nvSpPr>
          <p:cNvPr id="36" name="m3-heading-number"/>
          <p:cNvSpPr/>
          <p:nvPr/>
        </p:nvSpPr>
        <p:spPr>
          <a:xfrm>
            <a:off x="20628407" y="24051646"/>
            <a:ext cx="533370" cy="533370"/>
          </a:xfrm>
          <a:prstGeom prst="ellipse">
            <a:avLst/>
          </a:prstGeom>
          <a:solidFill>
            <a:srgbClr val="D260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m3-heading"/>
          <p:cNvSpPr txBox="1"/>
          <p:nvPr/>
        </p:nvSpPr>
        <p:spPr>
          <a:xfrm>
            <a:off x="21333226" y="24077341"/>
            <a:ext cx="3014137" cy="48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we built it</a:t>
            </a:r>
            <a:endParaRPr lang="en-US" sz="3300" dirty="0"/>
          </a:p>
        </p:txBody>
      </p:sp>
      <p:sp>
        <p:nvSpPr>
          <p:cNvPr id="38" name="m3-text"/>
          <p:cNvSpPr txBox="1"/>
          <p:nvPr/>
        </p:nvSpPr>
        <p:spPr>
          <a:xfrm>
            <a:off x="20628407" y="24813524"/>
            <a:ext cx="9190452" cy="178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MorphyNet supplies candidate splits. Its inflection table is clean enough to use almost as is. Its derivation table records history, not modern structure (king → kin ing), so it only proposes candidates.</a:t>
            </a:r>
            <a:endParaRPr lang="en-US" sz="2475" dirty="0"/>
          </a:p>
        </p:txBody>
      </p:sp>
      <p:sp>
        <p:nvSpPr>
          <p:cNvPr id="39" name="m3-text-2"/>
          <p:cNvSpPr txBox="1"/>
          <p:nvPr/>
        </p:nvSpPr>
        <p:spPr>
          <a:xfrm>
            <a:off x="20628407" y="26827216"/>
            <a:ext cx="9190452" cy="178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 hand-segmented 22,137 frequent words, rejecting about 53% of the MorphyNet derivational splits they overlapped. LLM agents (Claude Code) reviewed candidates adversarially; the author made every final decision.</a:t>
            </a:r>
            <a:endParaRPr lang="en-US" sz="2475" dirty="0"/>
          </a:p>
        </p:txBody>
      </p:sp>
      <p:sp>
        <p:nvSpPr>
          <p:cNvPr id="40" name="stat-morphemes"/>
          <p:cNvSpPr txBox="1"/>
          <p:nvPr/>
        </p:nvSpPr>
        <p:spPr>
          <a:xfrm>
            <a:off x="20628407" y="29012358"/>
            <a:ext cx="2987162" cy="145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4"/>
              </a:lnSpc>
              <a:buNone/>
            </a:pPr>
            <a:r>
              <a:rPr lang="en-US" sz="5699" b="1" dirty="0">
                <a:solidFill>
                  <a:srgbClr val="2F5D9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36,638</a:t>
            </a:r>
            <a:endParaRPr lang="en-US" sz="5699" dirty="0"/>
          </a:p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morphemes in the vocabulary</a:t>
            </a:r>
            <a:endParaRPr lang="en-US" sz="5699" dirty="0"/>
          </a:p>
        </p:txBody>
      </p:sp>
      <p:sp>
        <p:nvSpPr>
          <p:cNvPr id="41" name="stat-oov"/>
          <p:cNvSpPr txBox="1"/>
          <p:nvPr/>
        </p:nvSpPr>
        <p:spPr>
          <a:xfrm>
            <a:off x="23729869" y="29012358"/>
            <a:ext cx="2987345" cy="180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4"/>
              </a:lnSpc>
              <a:buNone/>
            </a:pPr>
            <a:r>
              <a:rPr lang="en-US" sz="5699" b="1" dirty="0">
                <a:solidFill>
                  <a:srgbClr val="2F5D9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1.0%</a:t>
            </a:r>
            <a:endParaRPr lang="en-US" sz="5699" dirty="0"/>
          </a:p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out-of-vocabulary tokens, with no subword fallback</a:t>
            </a:r>
            <a:endParaRPr lang="en-US" sz="5699" dirty="0"/>
          </a:p>
        </p:txBody>
      </p:sp>
      <p:sp>
        <p:nvSpPr>
          <p:cNvPr id="42" name="stat-shared"/>
          <p:cNvSpPr txBox="1"/>
          <p:nvPr/>
        </p:nvSpPr>
        <p:spPr>
          <a:xfrm>
            <a:off x="26831514" y="29012358"/>
            <a:ext cx="2987162" cy="145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4"/>
              </a:lnSpc>
              <a:buNone/>
            </a:pPr>
            <a:r>
              <a:rPr lang="en-US" sz="5699" b="1" dirty="0">
                <a:solidFill>
                  <a:srgbClr val="2F5D9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41.9%</a:t>
            </a:r>
            <a:endParaRPr lang="en-US" sz="5699" dirty="0"/>
          </a:p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morphemes shared by two or more word forms</a:t>
            </a:r>
            <a:endParaRPr lang="en-US" sz="5699" dirty="0"/>
          </a:p>
        </p:txBody>
      </p:sp>
      <p:sp>
        <p:nvSpPr>
          <p:cNvPr id="43" name="results-heading"/>
          <p:cNvSpPr txBox="1"/>
          <p:nvPr/>
        </p:nvSpPr>
        <p:spPr>
          <a:xfrm>
            <a:off x="10533248" y="33047422"/>
            <a:ext cx="19285610" cy="629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5"/>
              </a:lnSpc>
              <a:buNone/>
            </a:pPr>
            <a:r>
              <a:rPr lang="en-US" sz="4424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Results</a:t>
            </a:r>
            <a:endParaRPr lang="en-US" sz="4424" dirty="0"/>
          </a:p>
        </p:txBody>
      </p:sp>
      <p:sp>
        <p:nvSpPr>
          <p:cNvPr id="44" name="leaderboard-text"/>
          <p:cNvSpPr txBox="1"/>
          <p:nvPr/>
        </p:nvSpPr>
        <p:spPr>
          <a:xfrm>
            <a:off x="10533248" y="34095050"/>
            <a:ext cx="9190452" cy="1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Leaderboard.</a:t>
            </a:r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the BabyLM 2026 strict-small leaderboard, our submitted model ranks 2nd on COMPS (54.67) and 3rd on EWoK (53.2), with 72.53 on BLiMP.</a:t>
            </a:r>
            <a:endParaRPr lang="en-US" sz="2475" dirty="0"/>
          </a:p>
        </p:txBody>
      </p:sp>
      <p:sp>
        <p:nvSpPr>
          <p:cNvPr id="45" name="curation-text"/>
          <p:cNvSpPr txBox="1"/>
          <p:nvPr/>
        </p:nvSpPr>
        <p:spPr>
          <a:xfrm>
            <a:off x="10533248" y="35814762"/>
            <a:ext cx="9190452" cy="1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Curation is what helps.</a:t>
            </a:r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Against an uncurated tokenizer built from the same MorphyNet source, with the same model, data and seed, ours gains +1.4 BLiMP (66.35 vs 64.96).</a:t>
            </a:r>
            <a:endParaRPr lang="en-US" sz="2475" dirty="0"/>
          </a:p>
        </p:txBody>
      </p:sp>
      <p:sp>
        <p:nvSpPr>
          <p:cNvPr id="46" name="comps-text"/>
          <p:cNvSpPr txBox="1"/>
          <p:nvPr/>
        </p:nvSpPr>
        <p:spPr>
          <a:xfrm>
            <a:off x="10533248" y="37534566"/>
            <a:ext cx="9190452" cy="89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Concepts.</a:t>
            </a:r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 COMPS, the three morphology-based tokenizers take the top three places in that controlled comparison.</a:t>
            </a:r>
            <a:endParaRPr lang="en-US" sz="2475" dirty="0"/>
          </a:p>
        </p:txBody>
      </p:sp>
      <p:sp>
        <p:nvSpPr>
          <p:cNvPr id="47" name="chart-title"/>
          <p:cNvSpPr txBox="1"/>
          <p:nvPr/>
        </p:nvSpPr>
        <p:spPr>
          <a:xfrm>
            <a:off x="20437937" y="34095050"/>
            <a:ext cx="9380921" cy="446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training recipe, only the tokenizer changes</a:t>
            </a:r>
            <a:endParaRPr lang="en-US" sz="2475" dirty="0"/>
          </a:p>
        </p:txBody>
      </p:sp>
      <p:pic>
        <p:nvPicPr>
          <p:cNvPr id="48" name="results-chart" descr="/home/user/claude-sandbox/explorations/tokens-poster/figures/resul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7937" y="34674597"/>
            <a:ext cx="9228491" cy="5533309"/>
          </a:xfrm>
          <a:prstGeom prst="rect">
            <a:avLst/>
          </a:prstGeom>
        </p:spPr>
      </p:pic>
      <p:sp>
        <p:nvSpPr>
          <p:cNvPr id="49" name="chart-note"/>
          <p:cNvSpPr txBox="1"/>
          <p:nvPr/>
        </p:nvSpPr>
        <p:spPr>
          <a:xfrm>
            <a:off x="20437937" y="40341225"/>
            <a:ext cx="9380921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3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submitted tokenizer also drops morphemes seen fewer than three times and spells out unknown pieces as characters.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Tokens of Meaning (poster)</dc:title>
  <dc:subject>PptxGenJS Presentation</dc:subject>
  <dc:creator>PptxGenJS</dc:creator>
  <cp:lastModifiedBy>PptxGenJS</cp:lastModifiedBy>
  <cp:revision>1</cp:revision>
  <dcterms:created xsi:type="dcterms:W3CDTF">2026-10-21T07:12:53Z</dcterms:created>
  <dcterms:modified xsi:type="dcterms:W3CDTF">2026-10-21T07:12:53Z</dcterms:modified>
</cp:coreProperties>
</file>