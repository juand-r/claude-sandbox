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30264100" cy="42799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513205" y="574616"/>
            <a:ext cx="27237690" cy="94118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1513205" y="9986433"/>
            <a:ext cx="27237690" cy="328125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4627648" y="38529007"/>
            <a:ext cx="7061624" cy="227865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artoon-band"/>
          <p:cNvSpPr/>
          <p:nvPr/>
        </p:nvSpPr>
        <p:spPr>
          <a:xfrm>
            <a:off x="-5933" y="8118941"/>
            <a:ext cx="30275966" cy="873820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1" name="cartoon.pdf" descr="cartoon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4550" y="8838842"/>
            <a:ext cx="28575001" cy="8305801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Rectangle"/>
          <p:cNvSpPr/>
          <p:nvPr/>
        </p:nvSpPr>
        <p:spPr>
          <a:xfrm>
            <a:off x="-30560" y="3352822"/>
            <a:ext cx="30325220" cy="5030719"/>
          </a:xfrm>
          <a:prstGeom prst="rect">
            <a:avLst/>
          </a:prstGeom>
          <a:solidFill>
            <a:srgbClr val="5C48B3">
              <a:alpha val="92983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3" name="header-band"/>
          <p:cNvSpPr/>
          <p:nvPr/>
        </p:nvSpPr>
        <p:spPr>
          <a:xfrm>
            <a:off x="0" y="-1"/>
            <a:ext cx="30275966" cy="3340649"/>
          </a:xfrm>
          <a:prstGeom prst="rect">
            <a:avLst/>
          </a:prstGeom>
          <a:solidFill>
            <a:srgbClr val="BECFFC">
              <a:alpha val="39133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4" name="overview-box" descr="overview-box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77800" y="17472944"/>
            <a:ext cx="9825330" cy="24482430"/>
          </a:xfrm>
          <a:prstGeom prst="rect">
            <a:avLst/>
          </a:prstGeom>
        </p:spPr>
      </p:pic>
      <p:grpSp>
        <p:nvGrpSpPr>
          <p:cNvPr id="28" name="what-box"/>
          <p:cNvGrpSpPr/>
          <p:nvPr/>
        </p:nvGrpSpPr>
        <p:grpSpPr>
          <a:xfrm>
            <a:off x="539704" y="34310176"/>
            <a:ext cx="9101522" cy="2860392"/>
            <a:chOff x="0" y="0"/>
            <a:chExt cx="9101521" cy="2860391"/>
          </a:xfrm>
        </p:grpSpPr>
        <p:sp>
          <p:nvSpPr>
            <p:cNvPr id="27" name="what-box"/>
            <p:cNvSpPr/>
            <p:nvPr/>
          </p:nvSpPr>
          <p:spPr>
            <a:xfrm>
              <a:off x="31749" y="31750"/>
              <a:ext cx="9038023" cy="2796892"/>
            </a:xfrm>
            <a:prstGeom prst="roundRect">
              <a:avLst>
                <a:gd name="adj" fmla="val 6810"/>
              </a:avLst>
            </a:prstGeom>
            <a:solidFill>
              <a:srgbClr val="FFFFFF"/>
            </a:solidFill>
            <a:ln>
              <a:noFill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26" name="what-box" descr="what-box"/>
            <p:cNvPicPr>
              <a:picLocks noChangeAspect="0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0"/>
              <a:ext cx="9101522" cy="2860392"/>
            </a:xfrm>
            <a:prstGeom prst="rect">
              <a:avLst/>
            </a:prstGeom>
            <a:effectLst/>
          </p:spPr>
        </p:pic>
      </p:grpSp>
      <p:pic>
        <p:nvPicPr>
          <p:cNvPr id="83" name="method-box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01508" y="17472944"/>
            <a:ext cx="19996750" cy="17752682"/>
          </a:xfrm>
          <a:prstGeom prst="rect">
            <a:avLst/>
          </a:prstGeom>
        </p:spPr>
      </p:pic>
      <p:pic>
        <p:nvPicPr>
          <p:cNvPr id="84" name="results-box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01508" y="35409683"/>
            <a:ext cx="19996750" cy="6545601"/>
          </a:xfrm>
          <a:prstGeom prst="rect">
            <a:avLst/>
          </a:prstGeom>
        </p:spPr>
      </p:pic>
      <p:sp>
        <p:nvSpPr>
          <p:cNvPr id="33" name="title-block"/>
          <p:cNvSpPr txBox="1"/>
          <p:nvPr/>
        </p:nvSpPr>
        <p:spPr>
          <a:xfrm>
            <a:off x="1019006" y="419069"/>
            <a:ext cx="25303643" cy="27282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6600"/>
              </a:lnSpc>
              <a:defRPr sz="62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pPr>
            <a:r>
              <a:t>Tokens of Meaning: Semantically-Informed Morphological Tokenization in Low-Resource Language Modeling</a:t>
            </a:r>
          </a:p>
          <a:p>
            <a:pPr>
              <a:lnSpc>
                <a:spcPts val="4200"/>
              </a:lnSpc>
              <a:spcBef>
                <a:spcPts val="1300"/>
              </a:spcBef>
              <a:defRPr sz="37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pPr>
            <a:r>
              <a:t>Juan Diego Rodriguez</a:t>
            </a:r>
            <a:endParaRPr sz="6200"/>
          </a:p>
          <a:p>
            <a:pPr>
              <a:lnSpc>
                <a:spcPts val="2900"/>
              </a:lnSpc>
              <a:defRPr sz="2200">
                <a:solidFill>
                  <a:srgbClr val="4A4F57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pPr>
            <a:r>
              <a:t>The University of Texas at Austin</a:t>
            </a:r>
          </a:p>
        </p:txBody>
      </p:sp>
      <p:pic>
        <p:nvPicPr>
          <p:cNvPr id="34" name="qr-code-image" descr="qr-code-image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27240888" y="495239"/>
            <a:ext cx="2168412" cy="2168412"/>
          </a:xfrm>
          <a:prstGeom prst="rect">
            <a:avLst/>
          </a:prstGeom>
          <a:ln w="12700">
            <a:miter lim="400000"/>
          </a:ln>
        </p:spPr>
      </p:pic>
      <p:sp>
        <p:nvSpPr>
          <p:cNvPr id="35" name="qr-code"/>
          <p:cNvSpPr txBox="1"/>
          <p:nvPr/>
        </p:nvSpPr>
        <p:spPr>
          <a:xfrm>
            <a:off x="27934599" y="2773167"/>
            <a:ext cx="780990" cy="264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sz="1900">
                <a:solidFill>
                  <a:srgbClr val="14161A"/>
                </a:solidFill>
                <a:latin typeface="Archivo SemiBold Bold"/>
                <a:ea typeface="Archivo SemiBold Bold"/>
                <a:cs typeface="Archivo SemiBold Bold"/>
                <a:sym typeface="Archivo SemiBold Bold"/>
              </a:defRPr>
            </a:lvl1pPr>
          </a:lstStyle>
          <a:p>
            <a:pPr/>
            <a:r>
              <a:t>Code</a:t>
            </a:r>
          </a:p>
        </p:txBody>
      </p:sp>
      <p:sp>
        <p:nvSpPr>
          <p:cNvPr id="36" name="main-idea"/>
          <p:cNvSpPr txBox="1"/>
          <p:nvPr/>
        </p:nvSpPr>
        <p:spPr>
          <a:xfrm>
            <a:off x="3047756" y="6304455"/>
            <a:ext cx="27771242" cy="15687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2500"/>
              </a:lnSpc>
              <a:spcBef>
                <a:spcPts val="800"/>
              </a:spcBef>
              <a:defRPr i="1" sz="112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pPr>
            <a:r>
              <a:t>but</a:t>
            </a:r>
            <a:r>
              <a:t> </a:t>
            </a:r>
            <a:r>
              <a:t>only</a:t>
            </a:r>
            <a:r>
              <a:t> </a:t>
            </a:r>
            <a:r>
              <a:t>when</a:t>
            </a:r>
            <a:r>
              <a:t> </a:t>
            </a:r>
            <a:r>
              <a:t>the</a:t>
            </a:r>
            <a:r>
              <a:t> </a:t>
            </a:r>
            <a:r>
              <a:t>split</a:t>
            </a:r>
            <a:r>
              <a:t> </a:t>
            </a:r>
            <a:r>
              <a:t>is</a:t>
            </a:r>
            <a:r>
              <a:t> </a:t>
            </a:r>
            <a:r>
              <a:t>mean</a:t>
            </a:r>
            <a:r>
              <a:t>ing</a:t>
            </a:r>
            <a:r>
              <a:t>ful</a:t>
            </a:r>
          </a:p>
        </p:txBody>
      </p:sp>
      <p:sp>
        <p:nvSpPr>
          <p:cNvPr id="37" name="o1-heading"/>
          <p:cNvSpPr txBox="1"/>
          <p:nvPr/>
        </p:nvSpPr>
        <p:spPr>
          <a:xfrm>
            <a:off x="571408" y="17904683"/>
            <a:ext cx="9190454" cy="615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900"/>
              </a:lnSpc>
              <a:defRPr sz="4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lvl1pPr>
          </a:lstStyle>
          <a:p>
            <a:pPr/>
            <a:r>
              <a:t>Every token counts at 10M words</a:t>
            </a:r>
          </a:p>
        </p:txBody>
      </p:sp>
      <p:sp>
        <p:nvSpPr>
          <p:cNvPr id="38" name="o1-text"/>
          <p:cNvSpPr txBox="1"/>
          <p:nvPr/>
        </p:nvSpPr>
        <p:spPr>
          <a:xfrm>
            <a:off x="571408" y="18781593"/>
            <a:ext cx="9190454" cy="2197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500"/>
              </a:lnSpc>
              <a:defRPr sz="2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lvl1pPr>
          </a:lstStyle>
          <a:p>
            <a:pPr/>
            <a:r>
              <a:t>The BabyLM challenge restricts language models to a child-level  training budget of 10M - 100M words, so many words rarely appear. Children readily extend morphological patterns (one wug, two wugs). A tokenizer can do the same: if semantically-related forms share a stem token, every form trains it.</a:t>
            </a:r>
          </a:p>
        </p:txBody>
      </p:sp>
      <p:pic>
        <p:nvPicPr>
          <p:cNvPr id="39" name="pooling" descr="poolin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571409" y="21317681"/>
            <a:ext cx="9038022" cy="2857135"/>
          </a:xfrm>
          <a:prstGeom prst="rect">
            <a:avLst/>
          </a:prstGeom>
          <a:ln w="12700">
            <a:miter lim="400000"/>
          </a:ln>
        </p:spPr>
      </p:pic>
      <p:sp>
        <p:nvSpPr>
          <p:cNvPr id="40" name="o1-note"/>
          <p:cNvSpPr txBox="1"/>
          <p:nvPr/>
        </p:nvSpPr>
        <p:spPr>
          <a:xfrm>
            <a:off x="571408" y="24361359"/>
            <a:ext cx="9190454" cy="6705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2000">
                <a:solidFill>
                  <a:srgbClr val="4A4F57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lvl1pPr>
          </a:lstStyle>
          <a:p>
            <a:pPr/>
            <a:r>
              <a:t>A typical shared stem appears in about 3 word forms. That gives it about 36% more training signal than its most frequent form alone.</a:t>
            </a:r>
          </a:p>
        </p:txBody>
      </p:sp>
      <p:sp>
        <p:nvSpPr>
          <p:cNvPr id="41" name="o2-heading"/>
          <p:cNvSpPr txBox="1"/>
          <p:nvPr/>
        </p:nvSpPr>
        <p:spPr>
          <a:xfrm>
            <a:off x="574582" y="25794693"/>
            <a:ext cx="9190453" cy="615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900"/>
              </a:lnSpc>
              <a:defRPr sz="4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lvl1pPr>
          </a:lstStyle>
          <a:p>
            <a:pPr/>
            <a:r>
              <a:t>Statistical tokenizers ignore meaning</a:t>
            </a:r>
          </a:p>
        </p:txBody>
      </p:sp>
      <p:sp>
        <p:nvSpPr>
          <p:cNvPr id="42" name="o2-text"/>
          <p:cNvSpPr txBox="1"/>
          <p:nvPr/>
        </p:nvSpPr>
        <p:spPr>
          <a:xfrm>
            <a:off x="574582" y="26598211"/>
            <a:ext cx="9190453" cy="1308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500"/>
              </a:lnSpc>
              <a:defRPr sz="2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lvl1pPr>
          </a:lstStyle>
          <a:p>
            <a:pPr/>
            <a:r>
              <a:t>BPE, WordPiece and Unigram split text to compress it. Their pieces often mean nothing (adder → ad der), and related words can end up with no token in common (unhappiness, happiness).</a:t>
            </a:r>
          </a:p>
        </p:txBody>
      </p:sp>
      <p:sp>
        <p:nvSpPr>
          <p:cNvPr id="43" name="o3-heading"/>
          <p:cNvSpPr txBox="1"/>
          <p:nvPr/>
        </p:nvSpPr>
        <p:spPr>
          <a:xfrm>
            <a:off x="574582" y="28872054"/>
            <a:ext cx="9190453" cy="12374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900"/>
              </a:lnSpc>
              <a:defRPr sz="4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lvl1pPr>
          </a:lstStyle>
          <a:p>
            <a:pPr/>
            <a:r>
              <a:t>Meaning-preserving morpheme boundaries</a:t>
            </a:r>
          </a:p>
        </p:txBody>
      </p:sp>
      <p:sp>
        <p:nvSpPr>
          <p:cNvPr id="44" name="o3-text"/>
          <p:cNvSpPr txBox="1"/>
          <p:nvPr/>
        </p:nvSpPr>
        <p:spPr>
          <a:xfrm>
            <a:off x="571408" y="30490636"/>
            <a:ext cx="9190454" cy="175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500"/>
              </a:lnSpc>
              <a:defRPr sz="2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pPr>
            <a:r>
              <a:t>Splitting adder, a snake, into add er teaches the model that an adder is someone who adds, and it pollutes both pieces. </a:t>
            </a:r>
          </a:p>
          <a:p>
            <a:pPr>
              <a:lnSpc>
                <a:spcPts val="3500"/>
              </a:lnSpc>
              <a:defRPr sz="2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pPr>
          </a:p>
          <a:p>
            <a:pPr>
              <a:lnSpc>
                <a:spcPts val="3500"/>
              </a:lnSpc>
              <a:defRPr sz="2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pPr>
            <a:r>
              <a:t>In this work, we split helps only if the split is:</a:t>
            </a:r>
          </a:p>
        </p:txBody>
      </p:sp>
      <p:sp>
        <p:nvSpPr>
          <p:cNvPr id="45" name="o3-list"/>
          <p:cNvSpPr txBox="1"/>
          <p:nvPr/>
        </p:nvSpPr>
        <p:spPr>
          <a:xfrm>
            <a:off x="1121711" y="32783262"/>
            <a:ext cx="9114192" cy="991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500"/>
              </a:lnSpc>
              <a:defRPr sz="2400">
                <a:solidFill>
                  <a:srgbClr val="14161A"/>
                </a:solidFill>
                <a:latin typeface="Archivo SemiBold Bold"/>
                <a:ea typeface="Archivo SemiBold Bold"/>
                <a:cs typeface="Archivo SemiBold Bold"/>
                <a:sym typeface="Archivo SemiBold Bold"/>
              </a:defRPr>
            </a:pPr>
            <a:r>
              <a:t>Productive:</a:t>
            </a:r>
            <a:r>
              <a:rPr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 each piece is reused across the vocabulary.</a:t>
            </a:r>
          </a:p>
          <a:p>
            <a:pPr>
              <a:lnSpc>
                <a:spcPts val="3500"/>
              </a:lnSpc>
              <a:spcBef>
                <a:spcPts val="1000"/>
              </a:spcBef>
              <a:defRPr sz="2400">
                <a:solidFill>
                  <a:srgbClr val="14161A"/>
                </a:solidFill>
                <a:latin typeface="Archivo SemiBold Bold"/>
                <a:ea typeface="Archivo SemiBold Bold"/>
                <a:cs typeface="Archivo SemiBold Bold"/>
                <a:sym typeface="Archivo SemiBold Bold"/>
              </a:defRPr>
            </a:pPr>
            <a:r>
              <a:t>Semantic:</a:t>
            </a:r>
            <a:r>
              <a:rPr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 the pieces are related to the word’s meaning.</a:t>
            </a:r>
          </a:p>
        </p:txBody>
      </p:sp>
      <p:sp>
        <p:nvSpPr>
          <p:cNvPr id="46" name="what-text"/>
          <p:cNvSpPr txBox="1"/>
          <p:nvPr/>
        </p:nvSpPr>
        <p:spPr>
          <a:xfrm>
            <a:off x="904844" y="34618107"/>
            <a:ext cx="8523763" cy="2197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500"/>
              </a:lnSpc>
              <a:defRPr sz="2400">
                <a:solidFill>
                  <a:srgbClr val="14161A"/>
                </a:solidFill>
                <a:latin typeface="Archivo SemiBold Bold"/>
                <a:ea typeface="Archivo SemiBold Bold"/>
                <a:cs typeface="Archivo SemiBold Bold"/>
                <a:sym typeface="Archivo SemiBold Bold"/>
              </a:defRPr>
            </a:pPr>
            <a:r>
              <a:t>What we did:</a:t>
            </a:r>
            <a:r>
              <a:rPr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 We hand-curated an English morphological tokenizer that splits a word only when both conditions hold. We then trained child-scale language models with it, comparing it against other tokenizers and evaluating it on the BabyLM 2026 Challenge tasks.</a:t>
            </a:r>
          </a:p>
        </p:txBody>
      </p:sp>
      <p:sp>
        <p:nvSpPr>
          <p:cNvPr id="47" name="method-heading"/>
          <p:cNvSpPr txBox="1"/>
          <p:nvPr/>
        </p:nvSpPr>
        <p:spPr>
          <a:xfrm>
            <a:off x="10533247" y="17904683"/>
            <a:ext cx="19285611" cy="615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900"/>
              </a:lnSpc>
              <a:defRPr sz="4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lvl1pPr>
          </a:lstStyle>
          <a:p>
            <a:pPr/>
            <a:r>
              <a:t>Method: a meaning-aware morphological tokenizer</a:t>
            </a:r>
          </a:p>
        </p:txBody>
      </p:sp>
      <p:grpSp>
        <p:nvGrpSpPr>
          <p:cNvPr id="50" name="m1-heading-number"/>
          <p:cNvGrpSpPr/>
          <p:nvPr/>
        </p:nvGrpSpPr>
        <p:grpSpPr>
          <a:xfrm>
            <a:off x="10533247" y="18952219"/>
            <a:ext cx="533371" cy="533371"/>
            <a:chOff x="0" y="0"/>
            <a:chExt cx="533370" cy="533370"/>
          </a:xfrm>
        </p:grpSpPr>
        <p:sp>
          <p:nvSpPr>
            <p:cNvPr id="48" name="Circle"/>
            <p:cNvSpPr/>
            <p:nvPr/>
          </p:nvSpPr>
          <p:spPr>
            <a:xfrm>
              <a:off x="-1" y="-1"/>
              <a:ext cx="533372" cy="533372"/>
            </a:xfrm>
            <a:prstGeom prst="ellipse">
              <a:avLst/>
            </a:prstGeom>
            <a:solidFill>
              <a:srgbClr val="D260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400"/>
              </a:pPr>
            </a:p>
          </p:txBody>
        </p:sp>
        <p:sp>
          <p:nvSpPr>
            <p:cNvPr id="49" name="1"/>
            <p:cNvSpPr txBox="1"/>
            <p:nvPr/>
          </p:nvSpPr>
          <p:spPr>
            <a:xfrm>
              <a:off x="78109" y="101585"/>
              <a:ext cx="377152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2400">
                  <a:solidFill>
                    <a:srgbClr val="FFFFFF"/>
                  </a:solidFill>
                  <a:latin typeface="Archivo SemiBold Bold"/>
                  <a:ea typeface="Archivo SemiBold Bold"/>
                  <a:cs typeface="Archivo SemiBold Bold"/>
                  <a:sym typeface="Archivo SemiBold Bold"/>
                </a:defRPr>
              </a:lvl1pPr>
            </a:lstStyle>
            <a:p>
              <a:pPr/>
              <a:r>
                <a:t>1</a:t>
              </a:r>
            </a:p>
          </p:txBody>
        </p:sp>
      </p:grpSp>
      <p:sp>
        <p:nvSpPr>
          <p:cNvPr id="51" name="m1-heading"/>
          <p:cNvSpPr txBox="1"/>
          <p:nvPr/>
        </p:nvSpPr>
        <p:spPr>
          <a:xfrm>
            <a:off x="11238066" y="18978005"/>
            <a:ext cx="4133272" cy="4639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700"/>
              </a:lnSpc>
              <a:defRPr sz="3300">
                <a:solidFill>
                  <a:srgbClr val="14161A"/>
                </a:solidFill>
                <a:latin typeface="Archivo SemiBold Bold"/>
                <a:ea typeface="Archivo SemiBold Bold"/>
                <a:cs typeface="Archivo SemiBold Bold"/>
                <a:sym typeface="Archivo SemiBold Bold"/>
              </a:defRPr>
            </a:lvl1pPr>
          </a:lstStyle>
          <a:p>
            <a:pPr/>
            <a:r>
              <a:t>When to split a word</a:t>
            </a:r>
          </a:p>
        </p:txBody>
      </p:sp>
      <p:sp>
        <p:nvSpPr>
          <p:cNvPr id="52" name="m1-text"/>
          <p:cNvSpPr txBox="1"/>
          <p:nvPr/>
        </p:nvSpPr>
        <p:spPr>
          <a:xfrm>
            <a:off x="10533247" y="19714190"/>
            <a:ext cx="9190453" cy="864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500"/>
              </a:lnSpc>
              <a:defRPr sz="2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lvl1pPr>
          </a:lstStyle>
          <a:p>
            <a:pPr/>
            <a:r>
              <a:t>A candidate split is accepted only if it passes every check. Failing any one of them keeps the word whole.</a:t>
            </a:r>
          </a:p>
        </p:txBody>
      </p:sp>
      <p:pic>
        <p:nvPicPr>
          <p:cNvPr id="53" name="decision" descr="decision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10533247" y="20835244"/>
            <a:ext cx="9038022" cy="9523751"/>
          </a:xfrm>
          <a:prstGeom prst="rect">
            <a:avLst/>
          </a:prstGeom>
          <a:ln w="12700">
            <a:miter lim="400000"/>
          </a:ln>
        </p:spPr>
      </p:pic>
      <p:sp>
        <p:nvSpPr>
          <p:cNvPr id="54" name="m1-note"/>
          <p:cNvSpPr txBox="1"/>
          <p:nvPr/>
        </p:nvSpPr>
        <p:spPr>
          <a:xfrm>
            <a:off x="10533247" y="30587593"/>
            <a:ext cx="9190453" cy="1013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700"/>
              </a:lnSpc>
              <a:defRPr sz="2000">
                <a:solidFill>
                  <a:srgbClr val="4A4F57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pPr>
            <a:r>
              <a:t>Two other cases where words stay whole:</a:t>
            </a:r>
          </a:p>
          <a:p>
            <a:pPr marL="200526" indent="-200526">
              <a:lnSpc>
                <a:spcPts val="2700"/>
              </a:lnSpc>
              <a:buSzPct val="100000"/>
              <a:buChar char="-"/>
              <a:defRPr sz="2000">
                <a:solidFill>
                  <a:srgbClr val="4A4F57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pPr>
            <a:r>
              <a:t>genuinely ambiguous forms (leaves: leaf + s or leave + s)</a:t>
            </a:r>
          </a:p>
          <a:p>
            <a:pPr marL="200526" indent="-200526">
              <a:lnSpc>
                <a:spcPts val="2700"/>
              </a:lnSpc>
              <a:buSzPct val="100000"/>
              <a:buChar char="-"/>
              <a:defRPr sz="2000">
                <a:solidFill>
                  <a:srgbClr val="4A4F57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pPr>
            <a:r>
              <a:t>proper names with no common-noun use.</a:t>
            </a:r>
          </a:p>
        </p:txBody>
      </p:sp>
      <p:grpSp>
        <p:nvGrpSpPr>
          <p:cNvPr id="57" name="m2-heading-number"/>
          <p:cNvGrpSpPr/>
          <p:nvPr/>
        </p:nvGrpSpPr>
        <p:grpSpPr>
          <a:xfrm>
            <a:off x="20628407" y="18952219"/>
            <a:ext cx="533371" cy="533371"/>
            <a:chOff x="0" y="0"/>
            <a:chExt cx="533370" cy="533370"/>
          </a:xfrm>
        </p:grpSpPr>
        <p:sp>
          <p:nvSpPr>
            <p:cNvPr id="55" name="Circle"/>
            <p:cNvSpPr/>
            <p:nvPr/>
          </p:nvSpPr>
          <p:spPr>
            <a:xfrm>
              <a:off x="-1" y="-1"/>
              <a:ext cx="533372" cy="533372"/>
            </a:xfrm>
            <a:prstGeom prst="ellipse">
              <a:avLst/>
            </a:prstGeom>
            <a:solidFill>
              <a:srgbClr val="D260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400"/>
              </a:pPr>
            </a:p>
          </p:txBody>
        </p:sp>
        <p:sp>
          <p:nvSpPr>
            <p:cNvPr id="56" name="2"/>
            <p:cNvSpPr txBox="1"/>
            <p:nvPr/>
          </p:nvSpPr>
          <p:spPr>
            <a:xfrm>
              <a:off x="78109" y="101585"/>
              <a:ext cx="377152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2400">
                  <a:solidFill>
                    <a:srgbClr val="FFFFFF"/>
                  </a:solidFill>
                  <a:latin typeface="Archivo SemiBold Bold"/>
                  <a:ea typeface="Archivo SemiBold Bold"/>
                  <a:cs typeface="Archivo SemiBold Bold"/>
                  <a:sym typeface="Archivo SemiBold Bold"/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58" name="m2-heading"/>
          <p:cNvSpPr txBox="1"/>
          <p:nvPr/>
        </p:nvSpPr>
        <p:spPr>
          <a:xfrm>
            <a:off x="21333226" y="18978005"/>
            <a:ext cx="2816353" cy="4639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700"/>
              </a:lnSpc>
              <a:defRPr sz="3300">
                <a:solidFill>
                  <a:srgbClr val="14161A"/>
                </a:solidFill>
                <a:latin typeface="Archivo SemiBold Bold"/>
                <a:ea typeface="Archivo SemiBold Bold"/>
                <a:cs typeface="Archivo SemiBold Bold"/>
                <a:sym typeface="Archivo SemiBold Bold"/>
              </a:defRPr>
            </a:lvl1pPr>
          </a:lstStyle>
          <a:p>
            <a:pPr/>
            <a:r>
              <a:t>How to split it</a:t>
            </a:r>
          </a:p>
        </p:txBody>
      </p:sp>
      <p:sp>
        <p:nvSpPr>
          <p:cNvPr id="59" name="m2-text"/>
          <p:cNvSpPr txBox="1"/>
          <p:nvPr/>
        </p:nvSpPr>
        <p:spPr>
          <a:xfrm>
            <a:off x="20628407" y="19714190"/>
            <a:ext cx="9190453" cy="864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500"/>
              </a:lnSpc>
              <a:defRPr sz="2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lvl1pPr>
          </a:lstStyle>
          <a:p>
            <a:pPr/>
            <a:r>
              <a:t>Emit lemma-level morphemes, so spelling variants share the same  token:</a:t>
            </a:r>
          </a:p>
        </p:txBody>
      </p:sp>
      <p:pic>
        <p:nvPicPr>
          <p:cNvPr id="60" name="normalize" descr="normalize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20628407" y="20682844"/>
            <a:ext cx="9038022" cy="161903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3" name="m3-heading-number"/>
          <p:cNvGrpSpPr/>
          <p:nvPr/>
        </p:nvGrpSpPr>
        <p:grpSpPr>
          <a:xfrm>
            <a:off x="20628407" y="23255223"/>
            <a:ext cx="533371" cy="533371"/>
            <a:chOff x="0" y="0"/>
            <a:chExt cx="533370" cy="533370"/>
          </a:xfrm>
        </p:grpSpPr>
        <p:sp>
          <p:nvSpPr>
            <p:cNvPr id="61" name="Circle"/>
            <p:cNvSpPr/>
            <p:nvPr/>
          </p:nvSpPr>
          <p:spPr>
            <a:xfrm>
              <a:off x="-1" y="-1"/>
              <a:ext cx="533372" cy="533372"/>
            </a:xfrm>
            <a:prstGeom prst="ellipse">
              <a:avLst/>
            </a:prstGeom>
            <a:solidFill>
              <a:srgbClr val="D260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400"/>
              </a:pPr>
            </a:p>
          </p:txBody>
        </p:sp>
        <p:sp>
          <p:nvSpPr>
            <p:cNvPr id="62" name="3"/>
            <p:cNvSpPr txBox="1"/>
            <p:nvPr/>
          </p:nvSpPr>
          <p:spPr>
            <a:xfrm>
              <a:off x="78109" y="101585"/>
              <a:ext cx="377152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2400">
                  <a:solidFill>
                    <a:srgbClr val="FFFFFF"/>
                  </a:solidFill>
                  <a:latin typeface="Archivo SemiBold Bold"/>
                  <a:ea typeface="Archivo SemiBold Bold"/>
                  <a:cs typeface="Archivo SemiBold Bold"/>
                  <a:sym typeface="Archivo SemiBold Bold"/>
                </a:defRPr>
              </a:lvl1pPr>
            </a:lstStyle>
            <a:p>
              <a:pPr/>
              <a:r>
                <a:t>3</a:t>
              </a:r>
            </a:p>
          </p:txBody>
        </p:sp>
      </p:grpSp>
      <p:sp>
        <p:nvSpPr>
          <p:cNvPr id="64" name="m3-heading"/>
          <p:cNvSpPr txBox="1"/>
          <p:nvPr/>
        </p:nvSpPr>
        <p:spPr>
          <a:xfrm>
            <a:off x="21333226" y="23289941"/>
            <a:ext cx="4314234" cy="4639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700"/>
              </a:lnSpc>
              <a:defRPr sz="3300">
                <a:solidFill>
                  <a:srgbClr val="14161A"/>
                </a:solidFill>
                <a:latin typeface="Archivo SemiBold Bold"/>
                <a:ea typeface="Archivo SemiBold Bold"/>
                <a:cs typeface="Archivo SemiBold Bold"/>
                <a:sym typeface="Archivo SemiBold Bold"/>
              </a:defRPr>
            </a:lvl1pPr>
          </a:lstStyle>
          <a:p>
            <a:pPr/>
            <a:r>
              <a:t>Annotation process</a:t>
            </a:r>
          </a:p>
        </p:txBody>
      </p:sp>
      <p:sp>
        <p:nvSpPr>
          <p:cNvPr id="65" name="m3-text"/>
          <p:cNvSpPr txBox="1"/>
          <p:nvPr/>
        </p:nvSpPr>
        <p:spPr>
          <a:xfrm>
            <a:off x="20628407" y="24026124"/>
            <a:ext cx="9190453" cy="175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500"/>
              </a:lnSpc>
              <a:defRPr sz="2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lvl1pPr>
          </a:lstStyle>
          <a:p>
            <a:pPr/>
            <a:r>
              <a:t>MorphyNet supplies candidate splits. Its inflection table is clean enough to use almost as is. Its derivation table records history, not modern structure (king → kin ing), so it only proposes candidates, which we then filter.</a:t>
            </a:r>
          </a:p>
        </p:txBody>
      </p:sp>
      <p:sp>
        <p:nvSpPr>
          <p:cNvPr id="66" name="m3-text-2"/>
          <p:cNvSpPr txBox="1"/>
          <p:nvPr/>
        </p:nvSpPr>
        <p:spPr>
          <a:xfrm>
            <a:off x="20628407" y="26192215"/>
            <a:ext cx="9190453" cy="2197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500"/>
              </a:lnSpc>
              <a:defRPr sz="2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pPr>
            <a:r>
              <a:t>We hand-segmented 22,137 frequent words, rejecting about 53% of the MorphyNet derivational splits they overlapped.</a:t>
            </a:r>
          </a:p>
          <a:p>
            <a:pPr>
              <a:lnSpc>
                <a:spcPts val="3500"/>
              </a:lnSpc>
              <a:defRPr sz="2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pPr>
          </a:p>
          <a:p>
            <a:pPr>
              <a:lnSpc>
                <a:spcPts val="3500"/>
              </a:lnSpc>
              <a:defRPr sz="2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pPr>
            <a:r>
              <a:t>LLM agents (Claude Code) reviewed candidates adversarially; the author made every final decision.</a:t>
            </a:r>
          </a:p>
        </p:txBody>
      </p:sp>
      <p:sp>
        <p:nvSpPr>
          <p:cNvPr id="67" name="stat-morphemes"/>
          <p:cNvSpPr txBox="1"/>
          <p:nvPr/>
        </p:nvSpPr>
        <p:spPr>
          <a:xfrm>
            <a:off x="20628407" y="29291759"/>
            <a:ext cx="2987163" cy="14198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5900"/>
              </a:lnSpc>
              <a:defRPr sz="5600">
                <a:solidFill>
                  <a:srgbClr val="2F5D9B"/>
                </a:solidFill>
                <a:latin typeface="Archivo SemiBold Bold"/>
                <a:ea typeface="Archivo SemiBold Bold"/>
                <a:cs typeface="Archivo SemiBold Bold"/>
                <a:sym typeface="Archivo SemiBold Bold"/>
              </a:defRPr>
            </a:pPr>
            <a:r>
              <a:t>36,638</a:t>
            </a:r>
          </a:p>
          <a:p>
            <a:pPr>
              <a:lnSpc>
                <a:spcPts val="2700"/>
              </a:lnSpc>
              <a:defRPr sz="2000">
                <a:solidFill>
                  <a:srgbClr val="4A4F57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pPr>
            <a:r>
              <a:t>morphemes in the vocabulary</a:t>
            </a:r>
          </a:p>
        </p:txBody>
      </p:sp>
      <p:sp>
        <p:nvSpPr>
          <p:cNvPr id="68" name="stat-oov"/>
          <p:cNvSpPr txBox="1"/>
          <p:nvPr/>
        </p:nvSpPr>
        <p:spPr>
          <a:xfrm>
            <a:off x="23729869" y="29291759"/>
            <a:ext cx="2987346" cy="14198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5900"/>
              </a:lnSpc>
              <a:defRPr sz="5600">
                <a:solidFill>
                  <a:srgbClr val="2F5D9B"/>
                </a:solidFill>
                <a:latin typeface="Archivo SemiBold Bold"/>
                <a:ea typeface="Archivo SemiBold Bold"/>
                <a:cs typeface="Archivo SemiBold Bold"/>
                <a:sym typeface="Archivo SemiBold Bold"/>
              </a:defRPr>
            </a:pPr>
            <a:r>
              <a:t>1.0%</a:t>
            </a:r>
          </a:p>
          <a:p>
            <a:pPr>
              <a:lnSpc>
                <a:spcPts val="2700"/>
              </a:lnSpc>
              <a:defRPr sz="2000">
                <a:solidFill>
                  <a:srgbClr val="4A4F57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pPr>
            <a:r>
              <a:t>out-of-vocabulary tokens, with no subword fallback</a:t>
            </a:r>
          </a:p>
        </p:txBody>
      </p:sp>
      <p:sp>
        <p:nvSpPr>
          <p:cNvPr id="69" name="stat-shared"/>
          <p:cNvSpPr txBox="1"/>
          <p:nvPr/>
        </p:nvSpPr>
        <p:spPr>
          <a:xfrm>
            <a:off x="26831512" y="29291759"/>
            <a:ext cx="2987163" cy="14198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5900"/>
              </a:lnSpc>
              <a:defRPr sz="5600">
                <a:solidFill>
                  <a:srgbClr val="2F5D9B"/>
                </a:solidFill>
                <a:latin typeface="Archivo SemiBold Bold"/>
                <a:ea typeface="Archivo SemiBold Bold"/>
                <a:cs typeface="Archivo SemiBold Bold"/>
                <a:sym typeface="Archivo SemiBold Bold"/>
              </a:defRPr>
            </a:pPr>
            <a:r>
              <a:t>41.9%</a:t>
            </a:r>
          </a:p>
          <a:p>
            <a:pPr>
              <a:lnSpc>
                <a:spcPts val="2700"/>
              </a:lnSpc>
              <a:defRPr sz="2000">
                <a:solidFill>
                  <a:srgbClr val="4A4F57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pPr>
            <a:r>
              <a:t>of morphemes shared by two or more word forms</a:t>
            </a:r>
          </a:p>
        </p:txBody>
      </p:sp>
      <p:sp>
        <p:nvSpPr>
          <p:cNvPr id="70" name="results-heading"/>
          <p:cNvSpPr txBox="1"/>
          <p:nvPr/>
        </p:nvSpPr>
        <p:spPr>
          <a:xfrm>
            <a:off x="10533247" y="35841421"/>
            <a:ext cx="19285611" cy="615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900"/>
              </a:lnSpc>
              <a:defRPr sz="4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lvl1pPr>
          </a:lstStyle>
          <a:p>
            <a:pPr/>
            <a:r>
              <a:t>Results</a:t>
            </a:r>
          </a:p>
        </p:txBody>
      </p:sp>
      <p:sp>
        <p:nvSpPr>
          <p:cNvPr id="71" name="leaderboard-text"/>
          <p:cNvSpPr txBox="1"/>
          <p:nvPr/>
        </p:nvSpPr>
        <p:spPr>
          <a:xfrm>
            <a:off x="10533247" y="36889050"/>
            <a:ext cx="9190453" cy="1308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500"/>
              </a:lnSpc>
              <a:defRPr sz="2400">
                <a:solidFill>
                  <a:srgbClr val="14161A"/>
                </a:solidFill>
                <a:latin typeface="Archivo SemiBold Bold"/>
                <a:ea typeface="Archivo SemiBold Bold"/>
                <a:cs typeface="Archivo SemiBold Bold"/>
                <a:sym typeface="Archivo SemiBold Bold"/>
              </a:defRPr>
            </a:pPr>
            <a:r>
              <a:t>Leaderboard.</a:t>
            </a:r>
            <a:r>
              <a:rPr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 On the BabyLM 2026 strict-small leaderboard, our submitted model ranks 2nd on COMPS (54.67) and 3rd on EWoK (53.2), with 72.53 on BLiMP.</a:t>
            </a:r>
          </a:p>
        </p:txBody>
      </p:sp>
      <p:sp>
        <p:nvSpPr>
          <p:cNvPr id="72" name="curation-text"/>
          <p:cNvSpPr txBox="1"/>
          <p:nvPr/>
        </p:nvSpPr>
        <p:spPr>
          <a:xfrm>
            <a:off x="10533247" y="38418262"/>
            <a:ext cx="9190453" cy="1308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500"/>
              </a:lnSpc>
              <a:defRPr sz="2400">
                <a:solidFill>
                  <a:srgbClr val="14161A"/>
                </a:solidFill>
                <a:latin typeface="Archivo SemiBold Bold"/>
                <a:ea typeface="Archivo SemiBold Bold"/>
                <a:cs typeface="Archivo SemiBold Bold"/>
                <a:sym typeface="Archivo SemiBold Bold"/>
              </a:defRPr>
            </a:pPr>
            <a:r>
              <a:t>Curation is what helps.</a:t>
            </a:r>
            <a:r>
              <a:rPr>
                <a:latin typeface="Archivo SemiBold Regular"/>
                <a:ea typeface="Archivo SemiBold Regular"/>
                <a:cs typeface="Archivo SemiBold Regular"/>
                <a:sym typeface="Archivo SemiBold Regular"/>
              </a:rPr>
              <a:t> Against an uncurated tokenizer built from the same MorphyNet source, with the same model, data and seed, ours gains +1.4 BLiMP (66.35 vs 64.96).</a:t>
            </a:r>
          </a:p>
        </p:txBody>
      </p:sp>
      <p:sp>
        <p:nvSpPr>
          <p:cNvPr id="73" name="chart-title"/>
          <p:cNvSpPr txBox="1"/>
          <p:nvPr/>
        </p:nvSpPr>
        <p:spPr>
          <a:xfrm>
            <a:off x="20437936" y="36889050"/>
            <a:ext cx="9380923" cy="419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500"/>
              </a:lnSpc>
              <a:defRPr sz="2400">
                <a:solidFill>
                  <a:srgbClr val="14161A"/>
                </a:solidFill>
                <a:latin typeface="Archivo SemiBold Bold"/>
                <a:ea typeface="Archivo SemiBold Bold"/>
                <a:cs typeface="Archivo SemiBold Bold"/>
                <a:sym typeface="Archivo SemiBold Bold"/>
              </a:defRPr>
            </a:lvl1pPr>
          </a:lstStyle>
          <a:p>
            <a:pPr/>
            <a:r>
              <a:t>Same training recipe, only the tokenizer changes</a:t>
            </a:r>
          </a:p>
        </p:txBody>
      </p:sp>
      <p:pic>
        <p:nvPicPr>
          <p:cNvPr id="94" name="results-chart" descr="results-wid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437936" y="37414200"/>
            <a:ext cx="8445500" cy="3547110"/>
          </a:xfrm>
          <a:prstGeom prst="rect">
            <a:avLst/>
          </a:prstGeom>
        </p:spPr>
      </p:pic>
      <p:sp>
        <p:nvSpPr>
          <p:cNvPr id="75" name="chart-note"/>
          <p:cNvSpPr txBox="1"/>
          <p:nvPr/>
        </p:nvSpPr>
        <p:spPr>
          <a:xfrm>
            <a:off x="20437936" y="41059100"/>
            <a:ext cx="9380923" cy="670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2000">
                <a:solidFill>
                  <a:srgbClr val="4A4F57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lvl1pPr>
          </a:lstStyle>
          <a:p>
            <a:pPr/>
            <a:r>
              <a:t>The submitted tokenizer also drops morphemes seen fewer than three times and spells out unknown pieces as characters.</a:t>
            </a:r>
          </a:p>
        </p:txBody>
      </p:sp>
      <p:sp>
        <p:nvSpPr>
          <p:cNvPr id="76" name="main-idea"/>
          <p:cNvSpPr txBox="1"/>
          <p:nvPr/>
        </p:nvSpPr>
        <p:spPr>
          <a:xfrm>
            <a:off x="3047756" y="3825228"/>
            <a:ext cx="27771242" cy="2066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6300"/>
              </a:lnSpc>
              <a:defRPr spc="-154" sz="15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pPr>
            <a:r>
              <a:t>Split</a:t>
            </a:r>
            <a:r>
              <a:t> </a:t>
            </a:r>
            <a:r>
              <a:t>word</a:t>
            </a:r>
            <a:r>
              <a:t>s</a:t>
            </a:r>
            <a:r>
              <a:t> </a:t>
            </a:r>
            <a:r>
              <a:t>into</a:t>
            </a:r>
            <a:r>
              <a:t> </a:t>
            </a:r>
            <a:r>
              <a:rPr>
                <a:solidFill>
                  <a:srgbClr val="000000"/>
                </a:solidFill>
              </a:rPr>
              <a:t>morpheme</a:t>
            </a:r>
            <a:r>
              <a:rPr>
                <a:solidFill>
                  <a:srgbClr val="000000"/>
                </a:solidFill>
              </a:rPr>
              <a:t>s</a:t>
            </a:r>
          </a:p>
        </p:txBody>
      </p:sp>
      <p:sp>
        <p:nvSpPr>
          <p:cNvPr id="77" name="Rectangle"/>
          <p:cNvSpPr/>
          <p:nvPr/>
        </p:nvSpPr>
        <p:spPr>
          <a:xfrm>
            <a:off x="2810933" y="21635442"/>
            <a:ext cx="2647289" cy="2442226"/>
          </a:xfrm>
          <a:prstGeom prst="rect">
            <a:avLst/>
          </a:prstGeom>
          <a:solidFill>
            <a:srgbClr val="F6F7F5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78" name="Arrow"/>
          <p:cNvSpPr/>
          <p:nvPr/>
        </p:nvSpPr>
        <p:spPr>
          <a:xfrm>
            <a:off x="3055984" y="22187185"/>
            <a:ext cx="2151455" cy="1118097"/>
          </a:xfrm>
          <a:prstGeom prst="rightArrow">
            <a:avLst>
              <a:gd name="adj1" fmla="val 45313"/>
              <a:gd name="adj2" fmla="val 80937"/>
            </a:avLst>
          </a:prstGeom>
          <a:solidFill>
            <a:srgbClr val="3A5C96"/>
          </a:solidFill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79" name="Rectangle"/>
          <p:cNvSpPr/>
          <p:nvPr/>
        </p:nvSpPr>
        <p:spPr>
          <a:xfrm>
            <a:off x="6124001" y="23810808"/>
            <a:ext cx="3207479" cy="213905"/>
          </a:xfrm>
          <a:prstGeom prst="rect">
            <a:avLst/>
          </a:prstGeom>
          <a:solidFill>
            <a:srgbClr val="F6F7F5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80" name="Rectangle"/>
          <p:cNvSpPr/>
          <p:nvPr/>
        </p:nvSpPr>
        <p:spPr>
          <a:xfrm>
            <a:off x="8452334" y="23474251"/>
            <a:ext cx="533371" cy="264036"/>
          </a:xfrm>
          <a:prstGeom prst="rect">
            <a:avLst/>
          </a:prstGeom>
          <a:solidFill>
            <a:srgbClr val="F6F7F5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pic>
        <p:nvPicPr>
          <p:cNvPr id="81" name="Peeled Banana on Transparent Background.png" descr="Peeled Banana on Transparent Background.png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 rot="1618960">
            <a:off x="26730166" y="4389651"/>
            <a:ext cx="3189855" cy="3189856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examples.pdf" descr="examples.pdf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568727" y="37517697"/>
            <a:ext cx="9195816" cy="4002025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83" name="m4-heading-number"/>
          <p:cNvGrpSpPr/>
          <p:nvPr/>
        </p:nvGrpSpPr>
        <p:grpSpPr>
          <a:xfrm>
            <a:off x="10528300" y="31813500"/>
            <a:ext cx="533371" cy="533371"/>
            <a:chOff x="0" y="0"/>
            <a:chExt cx="533370" cy="533370"/>
          </a:xfrm>
        </p:grpSpPr>
        <p:sp>
          <p:nvSpPr>
            <p:cNvPr id="84" name="Circle"/>
            <p:cNvSpPr/>
            <p:nvPr/>
          </p:nvSpPr>
          <p:spPr>
            <a:xfrm>
              <a:off x="-1" y="-1"/>
              <a:ext cx="533372" cy="533372"/>
            </a:xfrm>
            <a:prstGeom prst="ellipse">
              <a:avLst/>
            </a:prstGeom>
            <a:solidFill>
              <a:srgbClr val="D260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400"/>
              </a:pPr>
            </a:p>
          </p:txBody>
        </p:sp>
        <p:sp>
          <p:nvSpPr>
            <p:cNvPr id="85" name="3"/>
            <p:cNvSpPr txBox="1"/>
            <p:nvPr/>
          </p:nvSpPr>
          <p:spPr>
            <a:xfrm>
              <a:off x="78109" y="101585"/>
              <a:ext cx="377152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2400">
                  <a:solidFill>
                    <a:srgbClr val="FFFFFF"/>
                  </a:solidFill>
                  <a:latin typeface="Archivo SemiBold Bold"/>
                  <a:ea typeface="Archivo SemiBold Bold"/>
                  <a:cs typeface="Archivo SemiBold Bold"/>
                  <a:sym typeface="Archivo SemiBold Bold"/>
                </a:defRPr>
              </a:lvl1pPr>
            </a:lstStyle>
            <a:p>
              <a:pPr/>
              <a:r>
                <a:t>4</a:t>
              </a:r>
            </a:p>
          </p:txBody>
        </p:sp>
      </p:grpSp>
      <p:sp>
        <p:nvSpPr>
          <p:cNvPr id="86" name="m4-heading"/>
          <p:cNvSpPr txBox="1"/>
          <p:nvPr/>
        </p:nvSpPr>
        <p:spPr>
          <a:xfrm>
            <a:off x="11239500" y="31838900"/>
            <a:ext cx="8382000" cy="4639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700"/>
              </a:lnSpc>
              <a:defRPr sz="3300">
                <a:solidFill>
                  <a:srgbClr val="14161A"/>
                </a:solidFill>
                <a:latin typeface="Archivo SemiBold Bold"/>
                <a:ea typeface="Archivo SemiBold Bold"/>
                <a:cs typeface="Archivo SemiBold Bold"/>
                <a:sym typeface="Archivo SemiBold Bold"/>
              </a:defRPr>
            </a:lvl1pPr>
          </a:lstStyle>
          <a:p>
            <a:pPr/>
            <a:r>
              <a:t>What curation changed</a:t>
            </a:r>
          </a:p>
        </p:txBody>
      </p:sp>
      <p:grpSp>
        <p:nvGrpSpPr>
          <p:cNvPr id="87" name="m5-heading-number"/>
          <p:cNvGrpSpPr/>
          <p:nvPr/>
        </p:nvGrpSpPr>
        <p:grpSpPr>
          <a:xfrm>
            <a:off x="20624800" y="31813500"/>
            <a:ext cx="533371" cy="533371"/>
            <a:chOff x="0" y="0"/>
            <a:chExt cx="533370" cy="533370"/>
          </a:xfrm>
        </p:grpSpPr>
        <p:sp>
          <p:nvSpPr>
            <p:cNvPr id="88" name="Circle"/>
            <p:cNvSpPr/>
            <p:nvPr/>
          </p:nvSpPr>
          <p:spPr>
            <a:xfrm>
              <a:off x="-1" y="-1"/>
              <a:ext cx="533372" cy="533372"/>
            </a:xfrm>
            <a:prstGeom prst="ellipse">
              <a:avLst/>
            </a:prstGeom>
            <a:solidFill>
              <a:srgbClr val="D260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400"/>
              </a:pPr>
            </a:p>
          </p:txBody>
        </p:sp>
        <p:sp>
          <p:nvSpPr>
            <p:cNvPr id="89" name="3"/>
            <p:cNvSpPr txBox="1"/>
            <p:nvPr/>
          </p:nvSpPr>
          <p:spPr>
            <a:xfrm>
              <a:off x="78109" y="101585"/>
              <a:ext cx="377152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2400">
                  <a:solidFill>
                    <a:srgbClr val="FFFFFF"/>
                  </a:solidFill>
                  <a:latin typeface="Archivo SemiBold Bold"/>
                  <a:ea typeface="Archivo SemiBold Bold"/>
                  <a:cs typeface="Archivo SemiBold Bold"/>
                  <a:sym typeface="Archivo SemiBold Bold"/>
                </a:defRPr>
              </a:lvl1pPr>
            </a:lstStyle>
            <a:p>
              <a:pPr/>
              <a:r>
                <a:t>5</a:t>
              </a:r>
            </a:p>
          </p:txBody>
        </p:sp>
      </p:grpSp>
      <p:sp>
        <p:nvSpPr>
          <p:cNvPr id="90" name="m5-heading"/>
          <p:cNvSpPr txBox="1"/>
          <p:nvPr/>
        </p:nvSpPr>
        <p:spPr>
          <a:xfrm>
            <a:off x="21336000" y="31838900"/>
            <a:ext cx="8382000" cy="4639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700"/>
              </a:lnSpc>
              <a:defRPr sz="3300">
                <a:solidFill>
                  <a:srgbClr val="14161A"/>
                </a:solidFill>
                <a:latin typeface="Archivo SemiBold Bold"/>
                <a:ea typeface="Archivo SemiBold Bold"/>
                <a:cs typeface="Archivo SemiBold Bold"/>
                <a:sym typeface="Archivo SemiBold Bold"/>
              </a:defRPr>
            </a:lvl1pPr>
          </a:lstStyle>
          <a:p>
            <a:pPr/>
            <a:r>
              <a:t>Quality checks</a:t>
            </a:r>
          </a:p>
        </p:txBody>
      </p:sp>
      <p:sp>
        <p:nvSpPr>
          <p:cNvPr id="91" name="m4-text"/>
          <p:cNvSpPr txBox="1"/>
          <p:nvPr/>
        </p:nvSpPr>
        <p:spPr>
          <a:xfrm>
            <a:off x="10528300" y="32461200"/>
            <a:ext cx="9190453" cy="864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500"/>
              </a:lnSpc>
              <a:defRPr sz="2400">
                <a:solidFill>
                  <a:srgbClr val="14161A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lvl1pPr>
          </a:lstStyle>
          <a:p>
            <a:pPr/>
            <a:r>
              <a:t>28,571 explicit decisions; about 10,000 change MorphyNet:</a:t>
            </a:r>
          </a:p>
        </p:txBody>
      </p:sp>
      <p:pic>
        <p:nvPicPr>
          <p:cNvPr id="92" name="curation" descr="curation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528300" y="33020000"/>
            <a:ext cx="9191625" cy="1905000"/>
          </a:xfrm>
          <a:prstGeom prst="rect">
            <a:avLst/>
          </a:prstGeom>
        </p:spPr>
      </p:pic>
      <p:pic>
        <p:nvPicPr>
          <p:cNvPr id="93" name="quality" descr="quality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0624800" y="32461200"/>
            <a:ext cx="9191625" cy="2495550"/>
          </a:xfrm>
          <a:prstGeom prst="rect">
            <a:avLst/>
          </a:prstGeom>
        </p:spPr>
      </p:pic>
      <p:sp>
        <p:nvSpPr>
          <p:cNvPr id="92" name="setup-box"/>
          <p:cNvSpPr/>
          <p:nvPr/>
        </p:nvSpPr>
        <p:spPr>
          <a:xfrm>
            <a:off x="10560050" y="39985950"/>
            <a:ext cx="9131300" cy="1689100"/>
          </a:xfrm>
          <a:prstGeom prst="roundRect">
            <a:avLst>
              <a:gd name="adj" fmla="val 681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/>
          </a:p>
        </p:txBody>
      </p:sp>
      <p:pic>
        <p:nvPicPr>
          <p:cNvPr id="95" name="setup-box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528300" y="39954200"/>
            <a:ext cx="9194800" cy="1752600"/>
          </a:xfrm>
          <a:prstGeom prst="rect">
            <a:avLst/>
          </a:prstGeom>
        </p:spPr>
      </p:pic>
      <p:sp>
        <p:nvSpPr>
          <p:cNvPr id="93" name="setup-text"/>
          <p:cNvSpPr txBox="1"/>
          <p:nvPr/>
        </p:nvSpPr>
        <p:spPr>
          <a:xfrm>
            <a:off x="10756900" y="40132000"/>
            <a:ext cx="8737600" cy="6705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2000">
                <a:solidFill>
                  <a:srgbClr val="4A4F57"/>
                </a:solidFill>
                <a:latin typeface="Archivo SemiBold Regular"/>
                <a:ea typeface="Archivo SemiBold Regular"/>
                <a:cs typeface="Archivo SemiBold Regular"/>
                <a:sym typeface="Archivo SemiBold Regular"/>
              </a:defRPr>
            </a:lvl1pPr>
          </a:lstStyle>
          <a:p>
            <a:pPr/>
            <a:r>
              <a:rPr b="1"/>
              <a:t>Setup. </a:t>
            </a:r>
            <a:r>
              <a:t>Llama-style decoder (12 layers, 768 hidden), trained for 10 epochs on the 10M-word strict-small corpus with the Muon optimizer. Comparisons change only the tokenizer. The submitted model (about 135M parameters) adds masked next-token prediction.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