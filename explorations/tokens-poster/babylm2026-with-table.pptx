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302641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513205" y="574616"/>
            <a:ext cx="27237690" cy="941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513205" y="9986433"/>
            <a:ext cx="27237690" cy="32812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4627648" y="38529007"/>
            <a:ext cx="7061624" cy="22786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-band"/>
          <p:cNvSpPr/>
          <p:nvPr/>
        </p:nvSpPr>
        <p:spPr>
          <a:xfrm>
            <a:off x="0" y="-1"/>
            <a:ext cx="30275966" cy="3457166"/>
          </a:xfrm>
          <a:prstGeom prst="rect">
            <a:avLst/>
          </a:prstGeom>
          <a:solidFill>
            <a:srgbClr val="BECFFC">
              <a:alpha val="39133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cartoon-band"/>
          <p:cNvSpPr/>
          <p:nvPr/>
        </p:nvSpPr>
        <p:spPr>
          <a:xfrm>
            <a:off x="-5933" y="8118941"/>
            <a:ext cx="30275966" cy="873820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overview-box" descr="overview-box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00" y="17472944"/>
            <a:ext cx="9825330" cy="24482430"/>
          </a:xfrm>
          <a:prstGeom prst="rect">
            <a:avLst/>
          </a:prstGeom>
        </p:spPr>
      </p:pic>
      <p:grpSp>
        <p:nvGrpSpPr>
          <p:cNvPr id="26" name="what-box"/>
          <p:cNvGrpSpPr/>
          <p:nvPr/>
        </p:nvGrpSpPr>
        <p:grpSpPr>
          <a:xfrm>
            <a:off x="539704" y="34602276"/>
            <a:ext cx="9101522" cy="2860392"/>
            <a:chOff x="0" y="0"/>
            <a:chExt cx="9101521" cy="2860391"/>
          </a:xfrm>
        </p:grpSpPr>
        <p:sp>
          <p:nvSpPr>
            <p:cNvPr id="25" name="what-box"/>
            <p:cNvSpPr/>
            <p:nvPr/>
          </p:nvSpPr>
          <p:spPr>
            <a:xfrm>
              <a:off x="31749" y="31750"/>
              <a:ext cx="9038023" cy="2796892"/>
            </a:xfrm>
            <a:prstGeom prst="roundRect">
              <a:avLst>
                <a:gd name="adj" fmla="val 681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4" name="what-box" descr="what-box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9101522" cy="2860392"/>
            </a:xfrm>
            <a:prstGeom prst="rect">
              <a:avLst/>
            </a:prstGeom>
            <a:effectLst/>
          </p:spPr>
        </p:pic>
      </p:grpSp>
      <p:grpSp>
        <p:nvGrpSpPr>
          <p:cNvPr id="29" name="method-box"/>
          <p:cNvGrpSpPr/>
          <p:nvPr/>
        </p:nvGrpSpPr>
        <p:grpSpPr>
          <a:xfrm>
            <a:off x="10101508" y="17472944"/>
            <a:ext cx="19996750" cy="14958682"/>
            <a:chOff x="0" y="0"/>
            <a:chExt cx="19996748" cy="14958680"/>
          </a:xfrm>
        </p:grpSpPr>
        <p:sp>
          <p:nvSpPr>
            <p:cNvPr id="28" name="method-box"/>
            <p:cNvSpPr/>
            <p:nvPr/>
          </p:nvSpPr>
          <p:spPr>
            <a:xfrm>
              <a:off x="50800" y="50800"/>
              <a:ext cx="19895149" cy="14857081"/>
            </a:xfrm>
            <a:prstGeom prst="roundRect">
              <a:avLst>
                <a:gd name="adj" fmla="val 2308"/>
              </a:avLst>
            </a:prstGeom>
            <a:solidFill>
              <a:srgbClr val="E8EDF8"/>
            </a:solidFill>
            <a:ln>
              <a:noFil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7" name="method-box" descr="method-box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9996749" cy="14958681"/>
            </a:xfrm>
            <a:prstGeom prst="rect">
              <a:avLst/>
            </a:prstGeom>
            <a:effectLst/>
          </p:spPr>
        </p:pic>
      </p:grpSp>
      <p:pic>
        <p:nvPicPr>
          <p:cNvPr id="30" name="results-box" descr="results-box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101508" y="32615683"/>
            <a:ext cx="19996750" cy="9339601"/>
          </a:xfrm>
          <a:prstGeom prst="rect">
            <a:avLst/>
          </a:prstGeom>
        </p:spPr>
      </p:pic>
      <p:sp>
        <p:nvSpPr>
          <p:cNvPr id="32" name="title-block"/>
          <p:cNvSpPr txBox="1"/>
          <p:nvPr/>
        </p:nvSpPr>
        <p:spPr>
          <a:xfrm>
            <a:off x="1019006" y="419069"/>
            <a:ext cx="25303643" cy="2728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6600"/>
              </a:lnSpc>
              <a:defRPr sz="62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Tokens of Meaning: Semantically-Informed Morphological Tokenization in Low-Resource Language Modeling</a:t>
            </a:r>
          </a:p>
          <a:p>
            <a:pPr>
              <a:lnSpc>
                <a:spcPts val="4200"/>
              </a:lnSpc>
              <a:spcBef>
                <a:spcPts val="1300"/>
              </a:spcBef>
              <a:defRPr sz="37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Juan Diego Rodriguez</a:t>
            </a:r>
            <a:endParaRPr sz="6200"/>
          </a:p>
          <a:p>
            <a:pPr>
              <a:lnSpc>
                <a:spcPts val="2900"/>
              </a:lnSpc>
              <a:defRPr sz="22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The University of Texas at Austin</a:t>
            </a:r>
          </a:p>
        </p:txBody>
      </p:sp>
      <p:pic>
        <p:nvPicPr>
          <p:cNvPr id="33" name="qr-code-image" descr="qr-code-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240888" y="495239"/>
            <a:ext cx="2168412" cy="2168412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qr-code"/>
          <p:cNvSpPr txBox="1"/>
          <p:nvPr/>
        </p:nvSpPr>
        <p:spPr>
          <a:xfrm>
            <a:off x="27934599" y="2773167"/>
            <a:ext cx="780990" cy="264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9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Code</a:t>
            </a:r>
          </a:p>
        </p:txBody>
      </p:sp>
      <p:sp>
        <p:nvSpPr>
          <p:cNvPr id="35" name="main-idea"/>
          <p:cNvSpPr txBox="1"/>
          <p:nvPr/>
        </p:nvSpPr>
        <p:spPr>
          <a:xfrm>
            <a:off x="3047756" y="6152055"/>
            <a:ext cx="27771242" cy="1568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500"/>
              </a:lnSpc>
              <a:spcBef>
                <a:spcPts val="800"/>
              </a:spcBef>
              <a:defRPr i="1" sz="112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but</a:t>
            </a:r>
            <a:r>
              <a:t> </a:t>
            </a:r>
            <a:r>
              <a:t>only</a:t>
            </a:r>
            <a:r>
              <a:t> </a:t>
            </a:r>
            <a:r>
              <a:t>when</a:t>
            </a:r>
            <a:r>
              <a:t> </a:t>
            </a:r>
            <a:r>
              <a:t>the</a:t>
            </a:r>
            <a:r>
              <a:t> </a:t>
            </a:r>
            <a:r>
              <a:t>split</a:t>
            </a:r>
            <a:r>
              <a:t> </a:t>
            </a:r>
            <a:r>
              <a:t>is</a:t>
            </a:r>
            <a:r>
              <a:t> </a:t>
            </a:r>
            <a:r>
              <a:t>mean</a:t>
            </a:r>
            <a:r>
              <a:t>ing</a:t>
            </a:r>
            <a:r>
              <a:t>ful</a:t>
            </a:r>
          </a:p>
        </p:txBody>
      </p:sp>
      <p:sp>
        <p:nvSpPr>
          <p:cNvPr id="36" name="o1-heading"/>
          <p:cNvSpPr txBox="1"/>
          <p:nvPr/>
        </p:nvSpPr>
        <p:spPr>
          <a:xfrm>
            <a:off x="571408" y="17904683"/>
            <a:ext cx="9190454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Every token counts at 10M words</a:t>
            </a:r>
          </a:p>
        </p:txBody>
      </p:sp>
      <p:sp>
        <p:nvSpPr>
          <p:cNvPr id="37" name="o1-text"/>
          <p:cNvSpPr txBox="1"/>
          <p:nvPr/>
        </p:nvSpPr>
        <p:spPr>
          <a:xfrm>
            <a:off x="571408" y="18781593"/>
            <a:ext cx="9190454" cy="219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The BabyLM challenge restricts language models to a child-level  training budget of 10M - 100M words, so many words rarely appear. Children readily extend morphological patterns (one wug, two wugs). A tokenizer can do the same: if semantically-related forms share a stem token, every form trains it.</a:t>
            </a:r>
          </a:p>
        </p:txBody>
      </p:sp>
      <p:pic>
        <p:nvPicPr>
          <p:cNvPr id="38" name="pooling" descr="pooli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409" y="21317681"/>
            <a:ext cx="9038022" cy="2857135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o1-note"/>
          <p:cNvSpPr txBox="1"/>
          <p:nvPr/>
        </p:nvSpPr>
        <p:spPr>
          <a:xfrm>
            <a:off x="571408" y="24361359"/>
            <a:ext cx="9190454" cy="670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A typical shared stem appears in about 3 word forms. That gives it about 36% more training signal than its most frequent form alone.</a:t>
            </a:r>
          </a:p>
        </p:txBody>
      </p:sp>
      <p:sp>
        <p:nvSpPr>
          <p:cNvPr id="40" name="o2-heading"/>
          <p:cNvSpPr txBox="1"/>
          <p:nvPr/>
        </p:nvSpPr>
        <p:spPr>
          <a:xfrm>
            <a:off x="574582" y="25794693"/>
            <a:ext cx="9190453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Statistical tokenizers ignore meaning</a:t>
            </a:r>
          </a:p>
        </p:txBody>
      </p:sp>
      <p:sp>
        <p:nvSpPr>
          <p:cNvPr id="41" name="o2-text"/>
          <p:cNvSpPr txBox="1"/>
          <p:nvPr/>
        </p:nvSpPr>
        <p:spPr>
          <a:xfrm>
            <a:off x="574582" y="26598211"/>
            <a:ext cx="9190453" cy="1308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BPE, WordPiece and Unigram split text to compress it. Their pieces often mean nothing (adder → ad der), and related words can end up with no token in common (unhappiness, happiness).</a:t>
            </a:r>
          </a:p>
        </p:txBody>
      </p:sp>
      <p:sp>
        <p:nvSpPr>
          <p:cNvPr id="42" name="o3-heading"/>
          <p:cNvSpPr txBox="1"/>
          <p:nvPr/>
        </p:nvSpPr>
        <p:spPr>
          <a:xfrm>
            <a:off x="574582" y="28872054"/>
            <a:ext cx="9190453" cy="123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Meaning-preserving morpheme boundaries</a:t>
            </a:r>
          </a:p>
        </p:txBody>
      </p:sp>
      <p:sp>
        <p:nvSpPr>
          <p:cNvPr id="43" name="o3-text"/>
          <p:cNvSpPr txBox="1"/>
          <p:nvPr/>
        </p:nvSpPr>
        <p:spPr>
          <a:xfrm>
            <a:off x="571408" y="30490636"/>
            <a:ext cx="9190454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Splitting adder, a snake, into add er teaches the model that an adder is someone who adds, and it pollutes both pieces. </a:t>
            </a: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In this work, we split helps only if the split is:</a:t>
            </a:r>
          </a:p>
        </p:txBody>
      </p:sp>
      <p:sp>
        <p:nvSpPr>
          <p:cNvPr id="44" name="o3-list"/>
          <p:cNvSpPr txBox="1"/>
          <p:nvPr/>
        </p:nvSpPr>
        <p:spPr>
          <a:xfrm>
            <a:off x="1121711" y="32846762"/>
            <a:ext cx="9114192" cy="991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Productive: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each piece is reused across the vocabulary.</a:t>
            </a:r>
          </a:p>
          <a:p>
            <a:pPr>
              <a:lnSpc>
                <a:spcPts val="3500"/>
              </a:lnSpc>
              <a:spcBef>
                <a:spcPts val="1000"/>
              </a:spcBef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Semantic: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the pieces are related to the word’s meaning.</a:t>
            </a:r>
          </a:p>
        </p:txBody>
      </p:sp>
      <p:sp>
        <p:nvSpPr>
          <p:cNvPr id="45" name="what-text"/>
          <p:cNvSpPr txBox="1"/>
          <p:nvPr/>
        </p:nvSpPr>
        <p:spPr>
          <a:xfrm>
            <a:off x="904844" y="34948307"/>
            <a:ext cx="8523763" cy="219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What we did.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We hand-curated an English morphological tokenizer that splits a word only when both conditions hold. We then trained child-scale language models with it, comparing it against other tokenizers and evaluating it on the BabyLM 2026 Challenge tasks.</a:t>
            </a:r>
          </a:p>
        </p:txBody>
      </p:sp>
      <p:sp>
        <p:nvSpPr>
          <p:cNvPr id="46" name="method-heading"/>
          <p:cNvSpPr txBox="1"/>
          <p:nvPr/>
        </p:nvSpPr>
        <p:spPr>
          <a:xfrm>
            <a:off x="10533247" y="17904683"/>
            <a:ext cx="19285611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Method: a meaning-aware morphological tokenizer</a:t>
            </a:r>
          </a:p>
        </p:txBody>
      </p:sp>
      <p:grpSp>
        <p:nvGrpSpPr>
          <p:cNvPr id="49" name="m1-heading-number"/>
          <p:cNvGrpSpPr/>
          <p:nvPr/>
        </p:nvGrpSpPr>
        <p:grpSpPr>
          <a:xfrm>
            <a:off x="10533247" y="18952219"/>
            <a:ext cx="533371" cy="533371"/>
            <a:chOff x="0" y="0"/>
            <a:chExt cx="533370" cy="533370"/>
          </a:xfrm>
        </p:grpSpPr>
        <p:sp>
          <p:nvSpPr>
            <p:cNvPr id="47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48" name="1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50" name="m1-heading"/>
          <p:cNvSpPr txBox="1"/>
          <p:nvPr/>
        </p:nvSpPr>
        <p:spPr>
          <a:xfrm>
            <a:off x="11238066" y="18978005"/>
            <a:ext cx="4133272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When to split a word</a:t>
            </a:r>
          </a:p>
        </p:txBody>
      </p:sp>
      <p:sp>
        <p:nvSpPr>
          <p:cNvPr id="51" name="m1-text"/>
          <p:cNvSpPr txBox="1"/>
          <p:nvPr/>
        </p:nvSpPr>
        <p:spPr>
          <a:xfrm>
            <a:off x="10533247" y="19714190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A candidate split is accepted only if it passes every check. Failing any one of them keeps the word whole.</a:t>
            </a:r>
          </a:p>
        </p:txBody>
      </p:sp>
      <p:pic>
        <p:nvPicPr>
          <p:cNvPr id="52" name="decision" descr="decision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0533247" y="20835244"/>
            <a:ext cx="9038022" cy="9523751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m1-note"/>
          <p:cNvSpPr txBox="1"/>
          <p:nvPr/>
        </p:nvSpPr>
        <p:spPr>
          <a:xfrm>
            <a:off x="10533247" y="30587593"/>
            <a:ext cx="9190453" cy="1013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Two other cases where words stay whole:</a:t>
            </a:r>
          </a:p>
          <a:p>
            <a:pPr marL="200526" indent="-200526">
              <a:lnSpc>
                <a:spcPts val="2700"/>
              </a:lnSpc>
              <a:buSzPct val="100000"/>
              <a:buChar char="-"/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genuinely ambiguous forms (leaves: leaf + s or leave + s)</a:t>
            </a:r>
          </a:p>
          <a:p>
            <a:pPr marL="200526" indent="-200526">
              <a:lnSpc>
                <a:spcPts val="2700"/>
              </a:lnSpc>
              <a:buSzPct val="100000"/>
              <a:buChar char="-"/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proper names with no common-noun use.</a:t>
            </a:r>
          </a:p>
        </p:txBody>
      </p:sp>
      <p:grpSp>
        <p:nvGrpSpPr>
          <p:cNvPr id="56" name="m2-heading-number"/>
          <p:cNvGrpSpPr/>
          <p:nvPr/>
        </p:nvGrpSpPr>
        <p:grpSpPr>
          <a:xfrm>
            <a:off x="20628407" y="18952219"/>
            <a:ext cx="533371" cy="533371"/>
            <a:chOff x="0" y="0"/>
            <a:chExt cx="533370" cy="533370"/>
          </a:xfrm>
        </p:grpSpPr>
        <p:sp>
          <p:nvSpPr>
            <p:cNvPr id="54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55" name="2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57" name="m2-heading"/>
          <p:cNvSpPr txBox="1"/>
          <p:nvPr/>
        </p:nvSpPr>
        <p:spPr>
          <a:xfrm>
            <a:off x="21333226" y="18978005"/>
            <a:ext cx="2816353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How to split it</a:t>
            </a:r>
          </a:p>
        </p:txBody>
      </p:sp>
      <p:sp>
        <p:nvSpPr>
          <p:cNvPr id="58" name="m2-text"/>
          <p:cNvSpPr txBox="1"/>
          <p:nvPr/>
        </p:nvSpPr>
        <p:spPr>
          <a:xfrm>
            <a:off x="20628407" y="19714190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Emit lemma-level morphemes, so spelling variants share the same  token:</a:t>
            </a:r>
          </a:p>
        </p:txBody>
      </p:sp>
      <p:pic>
        <p:nvPicPr>
          <p:cNvPr id="59" name="normalize" descr="normaliz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0628407" y="20682844"/>
            <a:ext cx="9038022" cy="16190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m3-heading-number"/>
          <p:cNvGrpSpPr/>
          <p:nvPr/>
        </p:nvGrpSpPr>
        <p:grpSpPr>
          <a:xfrm>
            <a:off x="20628407" y="23255223"/>
            <a:ext cx="533371" cy="533371"/>
            <a:chOff x="0" y="0"/>
            <a:chExt cx="533370" cy="533370"/>
          </a:xfrm>
        </p:grpSpPr>
        <p:sp>
          <p:nvSpPr>
            <p:cNvPr id="60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61" name="3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63" name="m3-heading"/>
          <p:cNvSpPr txBox="1"/>
          <p:nvPr/>
        </p:nvSpPr>
        <p:spPr>
          <a:xfrm>
            <a:off x="21333226" y="23289941"/>
            <a:ext cx="4314234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Annotation process</a:t>
            </a:r>
          </a:p>
        </p:txBody>
      </p:sp>
      <p:sp>
        <p:nvSpPr>
          <p:cNvPr id="64" name="m3-text"/>
          <p:cNvSpPr txBox="1"/>
          <p:nvPr/>
        </p:nvSpPr>
        <p:spPr>
          <a:xfrm>
            <a:off x="20628407" y="24026124"/>
            <a:ext cx="9190453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MorphyNet supplies candidate splits. Its inflection table is clean enough to use almost as is. Its derivation table records history, not modern structure (king → kin ing), so it only proposes candidates, which we then filter.</a:t>
            </a:r>
          </a:p>
        </p:txBody>
      </p:sp>
      <p:sp>
        <p:nvSpPr>
          <p:cNvPr id="65" name="m3-text-2"/>
          <p:cNvSpPr txBox="1"/>
          <p:nvPr/>
        </p:nvSpPr>
        <p:spPr>
          <a:xfrm>
            <a:off x="20628407" y="26192215"/>
            <a:ext cx="9190453" cy="219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We hand-segmented 22,137 frequent words, rejecting about 53% of the MorphyNet derivational splits they overlapped.</a:t>
            </a: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LLM agents (Claude Code) reviewed candidates adversarially; the author made every final decision.</a:t>
            </a:r>
          </a:p>
        </p:txBody>
      </p:sp>
      <p:sp>
        <p:nvSpPr>
          <p:cNvPr id="66" name="stat-morphemes"/>
          <p:cNvSpPr txBox="1"/>
          <p:nvPr/>
        </p:nvSpPr>
        <p:spPr>
          <a:xfrm>
            <a:off x="20628407" y="29291759"/>
            <a:ext cx="2987163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36,638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morphemes in the vocabulary</a:t>
            </a:r>
          </a:p>
        </p:txBody>
      </p:sp>
      <p:sp>
        <p:nvSpPr>
          <p:cNvPr id="67" name="stat-oov"/>
          <p:cNvSpPr txBox="1"/>
          <p:nvPr/>
        </p:nvSpPr>
        <p:spPr>
          <a:xfrm>
            <a:off x="23729869" y="29291759"/>
            <a:ext cx="2987346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1.0%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out-of-vocabulary tokens, with no subword fallback</a:t>
            </a:r>
          </a:p>
        </p:txBody>
      </p:sp>
      <p:sp>
        <p:nvSpPr>
          <p:cNvPr id="68" name="stat-shared"/>
          <p:cNvSpPr txBox="1"/>
          <p:nvPr/>
        </p:nvSpPr>
        <p:spPr>
          <a:xfrm>
            <a:off x="26831512" y="29291759"/>
            <a:ext cx="2987163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41.9%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of morphemes shared by two or more word forms</a:t>
            </a:r>
          </a:p>
        </p:txBody>
      </p:sp>
      <p:sp>
        <p:nvSpPr>
          <p:cNvPr id="69" name="results-heading"/>
          <p:cNvSpPr txBox="1"/>
          <p:nvPr/>
        </p:nvSpPr>
        <p:spPr>
          <a:xfrm>
            <a:off x="10533247" y="33047421"/>
            <a:ext cx="19285611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70" name="leaderboard-text"/>
          <p:cNvSpPr txBox="1"/>
          <p:nvPr/>
        </p:nvSpPr>
        <p:spPr>
          <a:xfrm>
            <a:off x="10533247" y="34095050"/>
            <a:ext cx="9190453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Leaderboard.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On the BabyLM 2026 strict-small leaderboard, our submitted model ranks 2nd on COMPS (54.67) and 3rd on EWoK (53.2), with 72.53 on BLiMP.</a:t>
            </a:r>
          </a:p>
        </p:txBody>
      </p:sp>
      <p:sp>
        <p:nvSpPr>
          <p:cNvPr id="71" name="curation-text"/>
          <p:cNvSpPr txBox="1"/>
          <p:nvPr/>
        </p:nvSpPr>
        <p:spPr>
          <a:xfrm>
            <a:off x="10533247" y="35814762"/>
            <a:ext cx="9190453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Curation is what helps.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Against an uncurated tokenizer built from the same MorphyNet source, with the same model, data and seed, ours gains +1.4 BLiMP (66.35 vs 64.96).</a:t>
            </a:r>
          </a:p>
        </p:txBody>
      </p:sp>
      <p:sp>
        <p:nvSpPr>
          <p:cNvPr id="72" name="chart-title"/>
          <p:cNvSpPr txBox="1"/>
          <p:nvPr/>
        </p:nvSpPr>
        <p:spPr>
          <a:xfrm>
            <a:off x="20437936" y="34095050"/>
            <a:ext cx="9380923" cy="41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Same training recipe, only the tokenizer changes</a:t>
            </a:r>
          </a:p>
        </p:txBody>
      </p:sp>
      <p:pic>
        <p:nvPicPr>
          <p:cNvPr id="73" name="results-chart" descr="results-chart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0437936" y="34572996"/>
            <a:ext cx="9228492" cy="5533310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hart-note"/>
          <p:cNvSpPr txBox="1"/>
          <p:nvPr/>
        </p:nvSpPr>
        <p:spPr>
          <a:xfrm>
            <a:off x="20437936" y="40277724"/>
            <a:ext cx="9380923" cy="67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The submitted tokenizer also drops morphemes seen fewer than three times and spells out unknown pieces as characters.</a:t>
            </a:r>
          </a:p>
        </p:txBody>
      </p:sp>
      <p:sp>
        <p:nvSpPr>
          <p:cNvPr id="75" name="main-idea"/>
          <p:cNvSpPr txBox="1"/>
          <p:nvPr/>
        </p:nvSpPr>
        <p:spPr>
          <a:xfrm>
            <a:off x="3047756" y="3723628"/>
            <a:ext cx="27771242" cy="2066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300"/>
              </a:lnSpc>
              <a:defRPr spc="-154" sz="15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Split</a:t>
            </a:r>
            <a:r>
              <a:t> </a:t>
            </a:r>
            <a:r>
              <a:t>word</a:t>
            </a:r>
            <a:r>
              <a:t>s</a:t>
            </a:r>
            <a:r>
              <a:t> </a:t>
            </a:r>
            <a:r>
              <a:t>into</a:t>
            </a:r>
            <a:r>
              <a:t> </a:t>
            </a:r>
            <a:r>
              <a:rPr>
                <a:solidFill>
                  <a:srgbClr val="000000"/>
                </a:solidFill>
              </a:rPr>
              <a:t>morpheme</a:t>
            </a:r>
            <a:r>
              <a:rPr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76" name="Rectangle"/>
          <p:cNvSpPr/>
          <p:nvPr/>
        </p:nvSpPr>
        <p:spPr>
          <a:xfrm>
            <a:off x="2810933" y="21635442"/>
            <a:ext cx="2647289" cy="2442226"/>
          </a:xfrm>
          <a:prstGeom prst="rect">
            <a:avLst/>
          </a:prstGeom>
          <a:solidFill>
            <a:srgbClr val="F6F7F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7" name="Arrow"/>
          <p:cNvSpPr/>
          <p:nvPr/>
        </p:nvSpPr>
        <p:spPr>
          <a:xfrm>
            <a:off x="3055984" y="22187185"/>
            <a:ext cx="2151455" cy="1118097"/>
          </a:xfrm>
          <a:prstGeom prst="rightArrow">
            <a:avLst>
              <a:gd name="adj1" fmla="val 45313"/>
              <a:gd name="adj2" fmla="val 80937"/>
            </a:avLst>
          </a:prstGeom>
          <a:solidFill>
            <a:srgbClr val="3A5C96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78" name="cartoon.pdf" descr="cartoon.pdf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844550" y="8648342"/>
            <a:ext cx="28575001" cy="8305801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Rectangle"/>
          <p:cNvSpPr/>
          <p:nvPr/>
        </p:nvSpPr>
        <p:spPr>
          <a:xfrm>
            <a:off x="6124001" y="23810808"/>
            <a:ext cx="3207479" cy="213905"/>
          </a:xfrm>
          <a:prstGeom prst="rect">
            <a:avLst/>
          </a:prstGeom>
          <a:solidFill>
            <a:srgbClr val="F6F7F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0" name="Rectangle"/>
          <p:cNvSpPr/>
          <p:nvPr/>
        </p:nvSpPr>
        <p:spPr>
          <a:xfrm>
            <a:off x="8452334" y="23474251"/>
            <a:ext cx="533371" cy="264036"/>
          </a:xfrm>
          <a:prstGeom prst="rect">
            <a:avLst/>
          </a:prstGeom>
          <a:solidFill>
            <a:srgbClr val="F6F7F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81" name="examples-table" descr="exampl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7693600"/>
            <a:ext cx="9191625" cy="399097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